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75" d="100"/>
          <a:sy n="75" d="100"/>
        </p:scale>
        <p:origin x="1113" y="2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10" Type="http://schemas.openxmlformats.org/officeDocument/2006/relationships/image" Target="../media/image10.png"/><Relationship Id="rId4" Type="http://schemas.openxmlformats.org/officeDocument/2006/relationships/image" Target="../media/image4.png"/><Relationship Id="rId9" Type="http://schemas.openxmlformats.org/officeDocument/2006/relationships/image" Target="../media/image9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image" Target="../media/image17.png"/><Relationship Id="rId7" Type="http://schemas.openxmlformats.org/officeDocument/2006/relationships/image" Target="../media/image21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0.png"/><Relationship Id="rId11" Type="http://schemas.openxmlformats.org/officeDocument/2006/relationships/image" Target="../media/image25.png"/><Relationship Id="rId5" Type="http://schemas.openxmlformats.org/officeDocument/2006/relationships/image" Target="../media/image19.png"/><Relationship Id="rId10" Type="http://schemas.openxmlformats.org/officeDocument/2006/relationships/image" Target="../media/image24.png"/><Relationship Id="rId4" Type="http://schemas.openxmlformats.org/officeDocument/2006/relationships/image" Target="../media/image18.png"/><Relationship Id="rId9" Type="http://schemas.openxmlformats.org/officeDocument/2006/relationships/image" Target="../media/image2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png"/><Relationship Id="rId3" Type="http://schemas.openxmlformats.org/officeDocument/2006/relationships/image" Target="../media/image31.png"/><Relationship Id="rId7" Type="http://schemas.openxmlformats.org/officeDocument/2006/relationships/image" Target="../media/image35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4.png"/><Relationship Id="rId5" Type="http://schemas.openxmlformats.org/officeDocument/2006/relationships/image" Target="../media/image33.png"/><Relationship Id="rId10" Type="http://schemas.openxmlformats.org/officeDocument/2006/relationships/image" Target="../media/image38.png"/><Relationship Id="rId4" Type="http://schemas.openxmlformats.org/officeDocument/2006/relationships/image" Target="../media/image32.png"/><Relationship Id="rId9" Type="http://schemas.openxmlformats.org/officeDocument/2006/relationships/image" Target="../media/image3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7" Type="http://schemas.openxmlformats.org/officeDocument/2006/relationships/image" Target="../media/image50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9.png"/><Relationship Id="rId5" Type="http://schemas.openxmlformats.org/officeDocument/2006/relationships/image" Target="../media/image48.png"/><Relationship Id="rId4" Type="http://schemas.openxmlformats.org/officeDocument/2006/relationships/image" Target="../media/image47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6.png"/><Relationship Id="rId4" Type="http://schemas.openxmlformats.org/officeDocument/2006/relationships/image" Target="../media/image5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333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267325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881312" y="571500"/>
            <a:ext cx="7496175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0" i="0" u="none">
                <a:solidFill>
                  <a:srgbClr val="EE3124"/>
                </a:solidFill>
                <a:latin typeface="Open Sans SemiBold"/>
              </a:rPr>
              <a:t>HONEYWELL HACKATHON FINALIST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881312" y="1000125"/>
            <a:ext cx="7870983" cy="1676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6600"/>
              </a:lnSpc>
            </a:pPr>
            <a:r>
              <a:rPr sz="6000" b="1" i="0" u="none">
                <a:solidFill>
                  <a:srgbClr val="FFFFFF"/>
                </a:solidFill>
                <a:latin typeface="Open Sans"/>
              </a:rPr>
              <a:t>Honeywell</a:t>
            </a:r>
            <a:r>
              <a:t>
</a:t>
            </a:r>
            <a:r>
              <a:rPr sz="6000" b="1" i="0" u="none">
                <a:solidFill>
                  <a:srgbClr val="EE3124"/>
                </a:solidFill>
                <a:latin typeface="Open Sans"/>
              </a:rPr>
              <a:t>SentinelAI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881312" y="2867025"/>
            <a:ext cx="6746527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sz="1800" b="0" i="0" u="none">
                <a:solidFill>
                  <a:srgbClr val="CCCCCC"/>
                </a:solidFill>
                <a:latin typeface="Open Sans"/>
              </a:rPr>
              <a:t>AI-Powered Behavioral Anomaly Detection for Enterprise Cybersecurity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928205" y="4118049"/>
            <a:ext cx="7496175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 dirty="0">
                <a:solidFill>
                  <a:srgbClr val="AAAAAA"/>
                </a:solidFill>
                <a:latin typeface="Open Sans"/>
              </a:rPr>
              <a:t>Presented by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881312" y="4381500"/>
            <a:ext cx="7496175" cy="32060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75"/>
              </a:lnSpc>
            </a:pPr>
            <a:r>
              <a:rPr lang="en-IN" sz="2400" b="0" i="0" u="none" dirty="0">
                <a:solidFill>
                  <a:srgbClr val="FFFFFF"/>
                </a:solidFill>
                <a:latin typeface="Open Sans SemiBold"/>
              </a:rPr>
              <a:t>Raj Gaurav</a:t>
            </a:r>
            <a:endParaRPr sz="2400" b="0" i="0" u="none" dirty="0">
              <a:solidFill>
                <a:srgbClr val="FFFFFF"/>
              </a:solidFill>
              <a:latin typeface="Open Sans SemiBold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7A7C43C-1FD6-5149-6647-4C7D317AB99D}"/>
              </a:ext>
            </a:extLst>
          </p:cNvPr>
          <p:cNvSpPr txBox="1"/>
          <p:nvPr/>
        </p:nvSpPr>
        <p:spPr>
          <a:xfrm>
            <a:off x="2808629" y="5010150"/>
            <a:ext cx="7496175" cy="23705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lang="en-IN" sz="1350" dirty="0">
                <a:solidFill>
                  <a:srgbClr val="AAAAAA"/>
                </a:solidFill>
                <a:latin typeface="Open Sans"/>
              </a:rPr>
              <a:t>Contact : rajgaura327@gmail.com</a:t>
            </a:r>
            <a:endParaRPr sz="1350" b="0" i="0" u="none" dirty="0">
              <a:solidFill>
                <a:srgbClr val="AAAAAA"/>
              </a:solidFill>
              <a:latin typeface="Open San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1975" y="1376363"/>
            <a:ext cx="3492400" cy="257175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40125" y="1376363"/>
            <a:ext cx="3492549" cy="25717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18424" y="1376363"/>
            <a:ext cx="3492400" cy="257175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1975" y="4233862"/>
            <a:ext cx="3492400" cy="257175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49650" y="4233862"/>
            <a:ext cx="3492549" cy="257175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18424" y="4195762"/>
            <a:ext cx="3492400" cy="257175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71500" y="942975"/>
            <a:ext cx="11049000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0" i="0" u="none">
                <a:solidFill>
                  <a:srgbClr val="666666"/>
                </a:solidFill>
                <a:latin typeface="Open Sans"/>
              </a:rPr>
              <a:t>Modern attackers don't break in; they log in. Legitimate credentials are used maliciously, bypassing static defenses.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7250" y="2647950"/>
            <a:ext cx="3056944" cy="3143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333333"/>
                </a:solidFill>
                <a:latin typeface="Open Sans"/>
              </a:rPr>
              <a:t>Credential Theft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7250" y="3057525"/>
            <a:ext cx="2911375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666666"/>
                </a:solidFill>
                <a:latin typeface="Open Sans"/>
              </a:rPr>
              <a:t>Stolen credentials used to access enterprise systems legitimately.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35400" y="2647950"/>
            <a:ext cx="3057100" cy="3143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333333"/>
                </a:solidFill>
                <a:latin typeface="Open Sans"/>
              </a:rPr>
              <a:t>Credential Stuffing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35400" y="3057525"/>
            <a:ext cx="2911524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666666"/>
                </a:solidFill>
                <a:latin typeface="Open Sans"/>
              </a:rPr>
              <a:t>Automated injection of breached username/password pairs.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3700" y="2647950"/>
            <a:ext cx="3056944" cy="3143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333333"/>
                </a:solidFill>
                <a:latin typeface="Open Sans"/>
              </a:rPr>
              <a:t>Brute Force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3700" y="3057525"/>
            <a:ext cx="2911375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666666"/>
                </a:solidFill>
                <a:latin typeface="Open Sans"/>
              </a:rPr>
              <a:t>High-volume, rapid attempts to guess passwords.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7250" y="5505450"/>
            <a:ext cx="3056944" cy="3143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333333"/>
                </a:solidFill>
                <a:latin typeface="Open Sans"/>
              </a:rPr>
              <a:t>Impossible Travel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7250" y="5915025"/>
            <a:ext cx="2911375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666666"/>
                </a:solidFill>
                <a:latin typeface="Open Sans"/>
              </a:rPr>
              <a:t>Same identity logging in from geographically distant locations instantly.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35400" y="5505450"/>
            <a:ext cx="3057100" cy="3143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333333"/>
                </a:solidFill>
                <a:latin typeface="Open Sans"/>
              </a:rPr>
              <a:t>Insider Threat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35400" y="5915025"/>
            <a:ext cx="2911524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666666"/>
                </a:solidFill>
                <a:latin typeface="Open Sans"/>
              </a:rPr>
              <a:t>Legitimate users expanding resource access abnormally.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13700" y="5505450"/>
            <a:ext cx="3056944" cy="3143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333333"/>
                </a:solidFill>
                <a:latin typeface="Open Sans"/>
              </a:rPr>
              <a:t>Lateral Movement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13700" y="5915025"/>
            <a:ext cx="2911375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666666"/>
                </a:solidFill>
                <a:latin typeface="Open Sans"/>
              </a:rPr>
              <a:t>Attackers moving sideways through the network post-breach.</a:t>
            </a:r>
          </a:p>
        </p:txBody>
      </p:sp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7250" y="2009775"/>
            <a:ext cx="381000" cy="381000"/>
          </a:xfrm>
          <a:prstGeom prst="rect">
            <a:avLst/>
          </a:prstGeom>
        </p:spPr>
      </p:pic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35400" y="2009775"/>
            <a:ext cx="476250" cy="381000"/>
          </a:xfrm>
          <a:prstGeom prst="rect">
            <a:avLst/>
          </a:prstGeom>
        </p:spPr>
      </p:pic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13700" y="2009775"/>
            <a:ext cx="428625" cy="381000"/>
          </a:xfrm>
          <a:prstGeom prst="rect">
            <a:avLst/>
          </a:prstGeom>
        </p:spPr>
      </p:pic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57250" y="4867275"/>
            <a:ext cx="476250" cy="381000"/>
          </a:xfrm>
          <a:prstGeom prst="rect">
            <a:avLst/>
          </a:prstGeom>
        </p:spPr>
      </p:pic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635400" y="4867275"/>
            <a:ext cx="333375" cy="381000"/>
          </a:xfrm>
          <a:prstGeom prst="rect">
            <a:avLst/>
          </a:prstGeom>
        </p:spPr>
      </p:pic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413700" y="4867275"/>
            <a:ext cx="476250" cy="381000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685800" y="9525"/>
            <a:ext cx="11601450" cy="647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600" b="1" i="0" u="none" dirty="0">
                <a:solidFill>
                  <a:srgbClr val="333333"/>
                </a:solidFill>
                <a:latin typeface="Open Sans"/>
              </a:rPr>
              <a:t>The Problem: Identity is the New Perimeter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71500" y="533400"/>
            <a:ext cx="11049000" cy="28575"/>
          </a:xfrm>
          <a:prstGeom prst="rect">
            <a:avLst/>
          </a:prstGeom>
          <a:solidFill>
            <a:srgbClr val="EE31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1943100"/>
            <a:ext cx="11049000" cy="409575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943100"/>
            <a:ext cx="5524500" cy="40957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0" y="1943100"/>
            <a:ext cx="5524500" cy="409575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52500" y="2324100"/>
            <a:ext cx="5000625" cy="4286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 i="0" u="none">
                <a:solidFill>
                  <a:srgbClr val="333333"/>
                </a:solidFill>
                <a:latin typeface="Open Sans"/>
              </a:rPr>
              <a:t>Traditional SIEM</a:t>
            </a:r>
          </a:p>
        </p:txBody>
      </p:sp>
      <p:sp>
        <p:nvSpPr>
          <p:cNvPr id="6" name="Rectangle 5"/>
          <p:cNvSpPr/>
          <p:nvPr/>
        </p:nvSpPr>
        <p:spPr>
          <a:xfrm>
            <a:off x="952500" y="2828925"/>
            <a:ext cx="4762500" cy="19050"/>
          </a:xfrm>
          <a:prstGeom prst="rect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524625" y="2324100"/>
            <a:ext cx="4950618" cy="4286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 i="0" u="none">
                <a:solidFill>
                  <a:srgbClr val="EE3124"/>
                </a:solidFill>
                <a:latin typeface="Open Sans"/>
              </a:rPr>
              <a:t>Sentinel</a:t>
            </a:r>
            <a:r>
              <a:rPr sz="2400" b="1" i="0" u="none">
                <a:solidFill>
                  <a:srgbClr val="333333"/>
                </a:solidFill>
                <a:latin typeface="Open Sans"/>
              </a:rPr>
              <a:t>AI Approach</a:t>
            </a:r>
          </a:p>
        </p:txBody>
      </p:sp>
      <p:sp>
        <p:nvSpPr>
          <p:cNvPr id="8" name="Rectangle 7"/>
          <p:cNvSpPr/>
          <p:nvPr/>
        </p:nvSpPr>
        <p:spPr>
          <a:xfrm>
            <a:off x="6524625" y="2828925"/>
            <a:ext cx="4714875" cy="19050"/>
          </a:xfrm>
          <a:prstGeom prst="rect">
            <a:avLst/>
          </a:prstGeom>
          <a:solidFill>
            <a:srgbClr val="555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333500" y="3133725"/>
            <a:ext cx="4381500" cy="3143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75"/>
              </a:lnSpc>
            </a:pPr>
            <a:r>
              <a:rPr sz="1650" b="0" i="0" u="none">
                <a:solidFill>
                  <a:srgbClr val="333333"/>
                </a:solidFill>
                <a:latin typeface="Open Sans"/>
              </a:rPr>
              <a:t>Relies on Static Rules &amp; Signatures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33500" y="3638550"/>
            <a:ext cx="4381500" cy="3143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75"/>
              </a:lnSpc>
            </a:pPr>
            <a:r>
              <a:rPr sz="1650" b="0" i="0" u="none">
                <a:solidFill>
                  <a:srgbClr val="333333"/>
                </a:solidFill>
                <a:latin typeface="Open Sans"/>
              </a:rPr>
              <a:t>High Volume of False Positives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33500" y="4143375"/>
            <a:ext cx="4381500" cy="3143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75"/>
              </a:lnSpc>
            </a:pPr>
            <a:r>
              <a:rPr sz="1650" b="0" i="0" u="none">
                <a:solidFill>
                  <a:srgbClr val="333333"/>
                </a:solidFill>
                <a:latin typeface="Open Sans"/>
              </a:rPr>
              <a:t>Creates Severe Alert Fatigue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33500" y="4648200"/>
            <a:ext cx="4381500" cy="3143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75"/>
              </a:lnSpc>
            </a:pPr>
            <a:r>
              <a:rPr sz="1650" b="0" i="0" u="none">
                <a:solidFill>
                  <a:srgbClr val="333333"/>
                </a:solidFill>
                <a:latin typeface="Open Sans"/>
              </a:rPr>
              <a:t>Blind to "Normal-Looking" Logins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33500" y="5153025"/>
            <a:ext cx="4381500" cy="3143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75"/>
              </a:lnSpc>
            </a:pPr>
            <a:r>
              <a:rPr sz="1650" b="0" i="0" u="none">
                <a:solidFill>
                  <a:srgbClr val="333333"/>
                </a:solidFill>
                <a:latin typeface="Open Sans"/>
              </a:rPr>
              <a:t>Binary Output (Allow/Deny)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05625" y="3133725"/>
            <a:ext cx="4333875" cy="3143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75"/>
              </a:lnSpc>
            </a:pPr>
            <a:r>
              <a:rPr sz="1650" b="0" i="0" u="none">
                <a:solidFill>
                  <a:srgbClr val="FFFFFF"/>
                </a:solidFill>
                <a:latin typeface="Open Sans"/>
              </a:rPr>
              <a:t>Unsupervised Behavior Learning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05625" y="3638550"/>
            <a:ext cx="4333875" cy="3143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75"/>
              </a:lnSpc>
            </a:pPr>
            <a:r>
              <a:rPr sz="1650" b="0" i="0" u="none">
                <a:solidFill>
                  <a:srgbClr val="FFFFFF"/>
                </a:solidFill>
                <a:latin typeface="Open Sans"/>
              </a:rPr>
              <a:t>High-Fidelity Precision Alerts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05625" y="4143375"/>
            <a:ext cx="4333875" cy="3143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75"/>
              </a:lnSpc>
            </a:pPr>
            <a:r>
              <a:rPr sz="1650" b="0" i="0" u="none">
                <a:solidFill>
                  <a:srgbClr val="FFFFFF"/>
                </a:solidFill>
                <a:latin typeface="Open Sans"/>
              </a:rPr>
              <a:t>Empowers SOC Productivity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05625" y="4648200"/>
            <a:ext cx="4333875" cy="3143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75"/>
              </a:lnSpc>
            </a:pPr>
            <a:r>
              <a:rPr sz="1650" b="0" i="0" u="none">
                <a:solidFill>
                  <a:srgbClr val="FFFFFF"/>
                </a:solidFill>
                <a:latin typeface="Open Sans"/>
              </a:rPr>
              <a:t>Detects Zero-Day Anomalies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05625" y="5153025"/>
            <a:ext cx="4333875" cy="3143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75"/>
              </a:lnSpc>
            </a:pPr>
            <a:r>
              <a:rPr sz="1650" b="0" i="0" u="none">
                <a:solidFill>
                  <a:srgbClr val="FFFFFF"/>
                </a:solidFill>
                <a:latin typeface="Open Sans"/>
              </a:rPr>
              <a:t>Explainable Risk Score (0-100)</a:t>
            </a:r>
          </a:p>
        </p:txBody>
      </p:sp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2500" y="3171825"/>
            <a:ext cx="171450" cy="247650"/>
          </a:xfrm>
          <a:prstGeom prst="rect">
            <a:avLst/>
          </a:prstGeom>
        </p:spPr>
      </p:pic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2500" y="3676650"/>
            <a:ext cx="171450" cy="247650"/>
          </a:xfrm>
          <a:prstGeom prst="rect">
            <a:avLst/>
          </a:prstGeom>
        </p:spPr>
      </p:pic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2500" y="4181475"/>
            <a:ext cx="171450" cy="247650"/>
          </a:xfrm>
          <a:prstGeom prst="rect">
            <a:avLst/>
          </a:prstGeom>
        </p:spPr>
      </p:pic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2500" y="4686300"/>
            <a:ext cx="171450" cy="247650"/>
          </a:xfrm>
          <a:prstGeom prst="rect">
            <a:avLst/>
          </a:prstGeom>
        </p:spPr>
      </p:pic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2500" y="5191125"/>
            <a:ext cx="171450" cy="247650"/>
          </a:xfrm>
          <a:prstGeom prst="rect">
            <a:avLst/>
          </a:prstGeom>
        </p:spPr>
      </p:pic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24625" y="3171825"/>
            <a:ext cx="200025" cy="247650"/>
          </a:xfrm>
          <a:prstGeom prst="rect">
            <a:avLst/>
          </a:prstGeom>
        </p:spPr>
      </p:pic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24625" y="3676650"/>
            <a:ext cx="200025" cy="247650"/>
          </a:xfrm>
          <a:prstGeom prst="rect">
            <a:avLst/>
          </a:prstGeom>
        </p:spPr>
      </p:pic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24625" y="4181475"/>
            <a:ext cx="200025" cy="247650"/>
          </a:xfrm>
          <a:prstGeom prst="rect">
            <a:avLst/>
          </a:prstGeom>
        </p:spPr>
      </p:pic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24625" y="4686300"/>
            <a:ext cx="200025" cy="247650"/>
          </a:xfrm>
          <a:prstGeom prst="rect">
            <a:avLst/>
          </a:prstGeom>
        </p:spPr>
      </p:pic>
      <p:pic>
        <p:nvPicPr>
          <p:cNvPr id="28" name="Picture 27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24625" y="5191125"/>
            <a:ext cx="200025" cy="247650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571500" y="571500"/>
            <a:ext cx="11601450" cy="647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600" b="1" i="0" u="none">
                <a:solidFill>
                  <a:srgbClr val="333333"/>
                </a:solidFill>
                <a:latin typeface="Open Sans"/>
              </a:rPr>
              <a:t>Why Legacy Approaches Fail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71500" y="1285875"/>
            <a:ext cx="11049000" cy="28575"/>
          </a:xfrm>
          <a:prstGeom prst="rect">
            <a:avLst/>
          </a:prstGeom>
          <a:solidFill>
            <a:srgbClr val="EE31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85850" y="4381500"/>
            <a:ext cx="923925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800"/>
              </a:lnSpc>
            </a:pPr>
            <a:r>
              <a:rPr sz="1200" b="0" i="0" u="none">
                <a:solidFill>
                  <a:srgbClr val="333333"/>
                </a:solidFill>
                <a:latin typeface="Open Sans SemiBold"/>
              </a:rPr>
              <a:t>Enterprise</a:t>
            </a:r>
            <a:r>
              <a:t>
</a:t>
            </a:r>
            <a:r>
              <a:rPr sz="1200" b="0" i="0" u="none">
                <a:solidFill>
                  <a:srgbClr val="333333"/>
                </a:solidFill>
                <a:latin typeface="Open Sans SemiBold"/>
              </a:rPr>
              <a:t> Login Events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33625" y="4090987"/>
            <a:ext cx="247650" cy="2857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919412" y="4381500"/>
            <a:ext cx="89535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800"/>
              </a:lnSpc>
            </a:pPr>
            <a:r>
              <a:rPr sz="1200" b="0" i="0" u="none">
                <a:solidFill>
                  <a:srgbClr val="333333"/>
                </a:solidFill>
                <a:latin typeface="Open Sans SemiBold"/>
              </a:rPr>
              <a:t>Synthetic</a:t>
            </a:r>
            <a:r>
              <a:t>
</a:t>
            </a:r>
            <a:r>
              <a:rPr sz="1200" b="0" i="0" u="none">
                <a:solidFill>
                  <a:srgbClr val="333333"/>
                </a:solidFill>
                <a:latin typeface="Open Sans SemiBold"/>
              </a:rPr>
              <a:t> Dataset Gen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52900" y="4090987"/>
            <a:ext cx="247650" cy="28575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757737" y="4381500"/>
            <a:ext cx="85725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800"/>
              </a:lnSpc>
            </a:pPr>
            <a:r>
              <a:rPr sz="1200" b="0" i="0" u="none">
                <a:solidFill>
                  <a:srgbClr val="333333"/>
                </a:solidFill>
                <a:latin typeface="Open Sans SemiBold"/>
              </a:rPr>
              <a:t>Feature</a:t>
            </a:r>
            <a:r>
              <a:t>
</a:t>
            </a:r>
            <a:r>
              <a:rPr sz="1200" b="0" i="0" u="none">
                <a:solidFill>
                  <a:srgbClr val="333333"/>
                </a:solidFill>
                <a:latin typeface="Open Sans SemiBold"/>
              </a:rPr>
              <a:t> Engineering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72175" y="4090987"/>
            <a:ext cx="247650" cy="28575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638925" y="4381500"/>
            <a:ext cx="733425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800"/>
              </a:lnSpc>
            </a:pPr>
            <a:r>
              <a:rPr sz="1200" b="0" i="0" u="none">
                <a:solidFill>
                  <a:srgbClr val="333333"/>
                </a:solidFill>
                <a:latin typeface="Open Sans SemiBold"/>
              </a:rPr>
              <a:t>Isolation</a:t>
            </a:r>
            <a:r>
              <a:t>
</a:t>
            </a:r>
            <a:r>
              <a:rPr sz="1200" b="0" i="0" u="none">
                <a:solidFill>
                  <a:srgbClr val="333333"/>
                </a:solidFill>
                <a:latin typeface="Open Sans SemiBold"/>
              </a:rPr>
              <a:t> Forest ML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91450" y="4090987"/>
            <a:ext cx="247650" cy="28575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553450" y="4381500"/>
            <a:ext cx="542925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800"/>
              </a:lnSpc>
            </a:pPr>
            <a:r>
              <a:rPr sz="1200" b="0" i="0" u="none">
                <a:solidFill>
                  <a:srgbClr val="333333"/>
                </a:solidFill>
                <a:latin typeface="Open Sans SemiBold"/>
              </a:rPr>
              <a:t>Risk</a:t>
            </a:r>
            <a:r>
              <a:t>
</a:t>
            </a:r>
            <a:r>
              <a:rPr sz="1200" b="0" i="0" u="none">
                <a:solidFill>
                  <a:srgbClr val="333333"/>
                </a:solidFill>
                <a:latin typeface="Open Sans SemiBold"/>
              </a:rPr>
              <a:t> Scoring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10725" y="4090987"/>
            <a:ext cx="247650" cy="28575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0239375" y="4381500"/>
            <a:ext cx="809625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800"/>
              </a:lnSpc>
            </a:pPr>
            <a:r>
              <a:rPr sz="1200" b="0" i="0" u="none">
                <a:solidFill>
                  <a:srgbClr val="333333"/>
                </a:solidFill>
                <a:latin typeface="Open Sans SemiBold"/>
              </a:rPr>
              <a:t>SOC</a:t>
            </a:r>
            <a:r>
              <a:t>
</a:t>
            </a:r>
            <a:r>
              <a:rPr sz="1200" b="0" i="0" u="none">
                <a:solidFill>
                  <a:srgbClr val="333333"/>
                </a:solidFill>
                <a:latin typeface="Open Sans SemiBold"/>
              </a:rPr>
              <a:t> Dashboard</a:t>
            </a: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95412" y="3705225"/>
            <a:ext cx="304800" cy="30480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33737" y="3705225"/>
            <a:ext cx="266700" cy="304800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95862" y="3705225"/>
            <a:ext cx="381000" cy="30480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53237" y="3705225"/>
            <a:ext cx="304800" cy="304800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672512" y="3705225"/>
            <a:ext cx="304800" cy="304800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472737" y="3705225"/>
            <a:ext cx="342900" cy="30480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571500" y="571500"/>
            <a:ext cx="11601450" cy="647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600" b="1" i="0" u="none">
                <a:solidFill>
                  <a:srgbClr val="333333"/>
                </a:solidFill>
                <a:latin typeface="Open Sans"/>
              </a:rPr>
              <a:t>End-to-End Solution Pipeline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71500" y="1285875"/>
            <a:ext cx="11049000" cy="28575"/>
          </a:xfrm>
          <a:prstGeom prst="rect">
            <a:avLst/>
          </a:prstGeom>
          <a:solidFill>
            <a:srgbClr val="EE31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166812" y="3476625"/>
            <a:ext cx="762000" cy="762000"/>
          </a:xfrm>
          <a:prstGeom prst="rect">
            <a:avLst/>
          </a:prstGeom>
        </p:spPr>
      </p:pic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986087" y="3476625"/>
            <a:ext cx="762000" cy="762000"/>
          </a:xfrm>
          <a:prstGeom prst="rect">
            <a:avLst/>
          </a:prstGeom>
        </p:spPr>
      </p:pic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805362" y="3476625"/>
            <a:ext cx="762000" cy="762000"/>
          </a:xfrm>
          <a:prstGeom prst="rect">
            <a:avLst/>
          </a:prstGeom>
        </p:spPr>
      </p:pic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624637" y="3476625"/>
            <a:ext cx="762000" cy="762000"/>
          </a:xfrm>
          <a:prstGeom prst="rect">
            <a:avLst/>
          </a:prstGeom>
        </p:spPr>
      </p:pic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443912" y="3476625"/>
            <a:ext cx="762000" cy="762000"/>
          </a:xfrm>
          <a:prstGeom prst="rect">
            <a:avLst/>
          </a:prstGeom>
        </p:spPr>
      </p:pic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263187" y="3476625"/>
            <a:ext cx="762000" cy="762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1609725"/>
            <a:ext cx="6629400" cy="47625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53350" y="1609725"/>
            <a:ext cx="3867150" cy="113347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53350" y="2886075"/>
            <a:ext cx="3867150" cy="113347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53350" y="4162425"/>
            <a:ext cx="3867150" cy="93345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53350" y="5238750"/>
            <a:ext cx="3867150" cy="113347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2566987" y="3886200"/>
            <a:ext cx="2638425" cy="2095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1" u="none">
                <a:solidFill>
                  <a:srgbClr val="999999"/>
                </a:solidFill>
                <a:latin typeface="Open Sans"/>
              </a:rPr>
              <a:t>[Insert assets/architecture.png here]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81950" y="1752600"/>
            <a:ext cx="3620452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333333"/>
                </a:solidFill>
                <a:latin typeface="monospace"/>
              </a:rPr>
              <a:t>generate_data.py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81950" y="2000250"/>
            <a:ext cx="3448050" cy="600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0" i="0" u="none">
                <a:solidFill>
                  <a:srgbClr val="666666"/>
                </a:solidFill>
                <a:latin typeface="Open Sans"/>
              </a:rPr>
              <a:t>Profiles entities (Users, Edge, Services) and injects 6+ real-world attack vectors to create the baseline dataset.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81950" y="3028950"/>
            <a:ext cx="3620452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333333"/>
                </a:solidFill>
                <a:latin typeface="monospace"/>
              </a:rPr>
              <a:t>train_model.py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81950" y="3276600"/>
            <a:ext cx="3448050" cy="600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0" i="0" u="none">
                <a:solidFill>
                  <a:srgbClr val="666666"/>
                </a:solidFill>
                <a:latin typeface="Open Sans"/>
              </a:rPr>
              <a:t>Handles data prep, scaling, and executes the unsupervised Machine Learning pipeline, exporting artifacts.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81950" y="4305300"/>
            <a:ext cx="3620452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333333"/>
                </a:solidFill>
                <a:latin typeface="monospace"/>
              </a:rPr>
              <a:t>utils.py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81950" y="4552950"/>
            <a:ext cx="3448050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0" i="0" u="none">
                <a:solidFill>
                  <a:srgbClr val="666666"/>
                </a:solidFill>
                <a:latin typeface="Open Sans"/>
              </a:rPr>
              <a:t>Shared utilities for logging, data validation, and maintaining a scalable, DRY codebase.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81950" y="5381625"/>
            <a:ext cx="3620452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333333"/>
                </a:solidFill>
                <a:latin typeface="monospace"/>
              </a:rPr>
              <a:t>dashboard.py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81950" y="5629275"/>
            <a:ext cx="3448050" cy="600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0" i="0" u="none">
                <a:solidFill>
                  <a:srgbClr val="666666"/>
                </a:solidFill>
                <a:latin typeface="Open Sans"/>
              </a:rPr>
              <a:t>Streamlit-based presentation layer providing an interactive UI for SOC analysts to investigate anomalies.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71500" y="485775"/>
            <a:ext cx="11601450" cy="647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600" b="1" i="0" u="none">
                <a:solidFill>
                  <a:srgbClr val="333333"/>
                </a:solidFill>
                <a:latin typeface="Open Sans"/>
              </a:rPr>
              <a:t>Modular System Architecture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71500" y="1200150"/>
            <a:ext cx="11049000" cy="28575"/>
          </a:xfrm>
          <a:prstGeom prst="rect">
            <a:avLst/>
          </a:prstGeom>
          <a:solidFill>
            <a:srgbClr val="EE31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0E411E51-3BCA-0A20-DD23-95228525EDE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9713" y="2208212"/>
            <a:ext cx="6452971" cy="3522667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0137" y="2762250"/>
            <a:ext cx="4229100" cy="6858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0137" y="3590925"/>
            <a:ext cx="4229100" cy="6858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0137" y="4419600"/>
            <a:ext cx="4229100" cy="6858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0137" y="5248275"/>
            <a:ext cx="4229100" cy="6858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0137" y="6076950"/>
            <a:ext cx="4229100" cy="6858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95412" y="2914650"/>
            <a:ext cx="381000" cy="3810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95412" y="3743325"/>
            <a:ext cx="381000" cy="3810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395412" y="4572000"/>
            <a:ext cx="381000" cy="3810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395412" y="5400675"/>
            <a:ext cx="381000" cy="38100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395412" y="6229350"/>
            <a:ext cx="381000" cy="3810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71500" y="1219200"/>
            <a:ext cx="5286375" cy="1257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75"/>
              </a:lnSpc>
            </a:pPr>
            <a:r>
              <a:rPr sz="1650" b="1" i="0" u="none">
                <a:solidFill>
                  <a:srgbClr val="555555"/>
                </a:solidFill>
                <a:latin typeface="Open Sans"/>
              </a:rPr>
              <a:t>Why Isolation Forest?</a:t>
            </a:r>
            <a:r>
              <a:rPr sz="1650" b="0" i="0" u="none">
                <a:solidFill>
                  <a:srgbClr val="555555"/>
                </a:solidFill>
                <a:latin typeface="Open Sans"/>
              </a:rPr>
              <a:t> Unsupervised algorithm perfect for high-dimensional log data. It detects anomalies by isolating outliers rather than profiling normal points—ideal for Zero-Day threats.</a:t>
            </a: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334125" y="1219200"/>
            <a:ext cx="5286375" cy="47625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966912" y="3000375"/>
            <a:ext cx="3067050" cy="2095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333333"/>
                </a:solidFill>
                <a:latin typeface="Open Sans SemiBold"/>
              </a:rPr>
              <a:t>Feature Engineering (Contextual context)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966912" y="3829050"/>
            <a:ext cx="3067050" cy="2095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333333"/>
                </a:solidFill>
                <a:latin typeface="Open Sans SemiBold"/>
              </a:rPr>
              <a:t>Label Encoding (Categorical to Numerical)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966912" y="4657725"/>
            <a:ext cx="3067050" cy="2095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333333"/>
                </a:solidFill>
                <a:latin typeface="Open Sans SemiBold"/>
              </a:rPr>
              <a:t>Standard Scaling (Normalization)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966912" y="5486400"/>
            <a:ext cx="3067050" cy="2095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333333"/>
                </a:solidFill>
                <a:latin typeface="Open Sans SemiBold"/>
              </a:rPr>
              <a:t>Isolation Forest (Outlier detection)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966912" y="6315075"/>
            <a:ext cx="3067050" cy="2095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333333"/>
                </a:solidFill>
                <a:latin typeface="Open Sans SemiBold"/>
              </a:rPr>
              <a:t>Risk Scoring Mapping (0-100 scale)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71500" y="95250"/>
            <a:ext cx="11601450" cy="647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600" b="1" i="0" u="none">
                <a:solidFill>
                  <a:srgbClr val="333333"/>
                </a:solidFill>
                <a:latin typeface="Open Sans"/>
              </a:rPr>
              <a:t>Isolation Forest ML Pipeline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71500" y="809625"/>
            <a:ext cx="11049000" cy="28575"/>
          </a:xfrm>
          <a:prstGeom prst="rect">
            <a:avLst/>
          </a:prstGeom>
          <a:solidFill>
            <a:srgbClr val="EE31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1695450"/>
            <a:ext cx="5429250" cy="733425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2762250"/>
            <a:ext cx="5429250" cy="73342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3829050"/>
            <a:ext cx="5429250" cy="73342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1250" y="1695450"/>
            <a:ext cx="5429250" cy="428625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00100" y="1838325"/>
            <a:ext cx="5260657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333333"/>
                </a:solidFill>
                <a:latin typeface="Segoe UI"/>
              </a:rPr>
              <a:t>Executive Summary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0100" y="2085975"/>
            <a:ext cx="5010150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0" i="0" u="none">
                <a:solidFill>
                  <a:srgbClr val="666666"/>
                </a:solidFill>
                <a:latin typeface="Open Sans"/>
              </a:rPr>
              <a:t>High-level KPIs showing total events vs. detected anomalies.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0100" y="2905125"/>
            <a:ext cx="5260657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333333"/>
                </a:solidFill>
                <a:latin typeface="Segoe UI"/>
              </a:rPr>
              <a:t>Threat Analytics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0100" y="3152775"/>
            <a:ext cx="5010150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0" i="0" u="none">
                <a:solidFill>
                  <a:srgbClr val="666666"/>
                </a:solidFill>
                <a:latin typeface="Open Sans"/>
              </a:rPr>
              <a:t>Visual breakdown of attack distribution and top risky users.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0100" y="3971925"/>
            <a:ext cx="5260657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333333"/>
                </a:solidFill>
                <a:latin typeface="Segoe UI"/>
              </a:rPr>
              <a:t>Risk Explorer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0100" y="4219575"/>
            <a:ext cx="5010150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0" i="0" u="none">
                <a:solidFill>
                  <a:srgbClr val="666666"/>
                </a:solidFill>
                <a:latin typeface="Open Sans"/>
              </a:rPr>
              <a:t>Deep dive into specific events with explainable risk reasons.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00775" y="1704975"/>
            <a:ext cx="5410200" cy="42672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71500" y="571500"/>
            <a:ext cx="11601450" cy="647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600" b="1" i="0" u="none">
                <a:solidFill>
                  <a:srgbClr val="333333"/>
                </a:solidFill>
                <a:latin typeface="Open Sans"/>
              </a:rPr>
              <a:t>Actionable Intelligence: SOC Dashboard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71500" y="1285875"/>
            <a:ext cx="11049000" cy="28575"/>
          </a:xfrm>
          <a:prstGeom prst="rect">
            <a:avLst/>
          </a:prstGeom>
          <a:solidFill>
            <a:srgbClr val="EE31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1695450"/>
            <a:ext cx="2619375" cy="1438275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81375" y="1695450"/>
            <a:ext cx="2619375" cy="143827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91250" y="1695450"/>
            <a:ext cx="2619375" cy="143827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01125" y="1695450"/>
            <a:ext cx="2619375" cy="1438275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3419475"/>
            <a:ext cx="5286375" cy="16002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62000" y="2019300"/>
            <a:ext cx="2238375" cy="619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3600" b="1" i="0" u="none">
                <a:solidFill>
                  <a:srgbClr val="00A3E0"/>
                </a:solidFill>
                <a:latin typeface="Open Sans"/>
              </a:rPr>
              <a:t>10K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2733675"/>
            <a:ext cx="2238375" cy="2095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0" i="0" u="none">
                <a:solidFill>
                  <a:srgbClr val="666666"/>
                </a:solidFill>
                <a:latin typeface="Open Sans"/>
              </a:rPr>
              <a:t>LOGIN EVENTS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71875" y="2019300"/>
            <a:ext cx="2238375" cy="619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3600" b="1" i="0" u="none">
                <a:solidFill>
                  <a:srgbClr val="4CAF50"/>
                </a:solidFill>
                <a:latin typeface="Open Sans"/>
              </a:rPr>
              <a:t>9,700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71875" y="2733675"/>
            <a:ext cx="2238375" cy="2095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0" i="0" u="none">
                <a:solidFill>
                  <a:srgbClr val="666666"/>
                </a:solidFill>
                <a:latin typeface="Open Sans"/>
              </a:rPr>
              <a:t>NORMAL PROFILES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81750" y="2019300"/>
            <a:ext cx="2238375" cy="619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3600" b="1" i="0" u="none">
                <a:solidFill>
                  <a:srgbClr val="EE3124"/>
                </a:solidFill>
                <a:latin typeface="Open Sans"/>
              </a:rPr>
              <a:t>300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81750" y="2733675"/>
            <a:ext cx="2238375" cy="2095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0" i="0" u="none">
                <a:solidFill>
                  <a:srgbClr val="666666"/>
                </a:solidFill>
                <a:latin typeface="Open Sans"/>
              </a:rPr>
              <a:t>INJECTED ATTACKS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91625" y="2019300"/>
            <a:ext cx="2238375" cy="619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3600" b="1" i="0" u="none">
                <a:solidFill>
                  <a:srgbClr val="FFFFFF"/>
                </a:solidFill>
                <a:latin typeface="Open Sans"/>
              </a:rPr>
              <a:t>98%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91625" y="2733675"/>
            <a:ext cx="2238375" cy="2095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0" i="0" u="none">
                <a:solidFill>
                  <a:srgbClr val="CCCCCC"/>
                </a:solidFill>
                <a:latin typeface="Open Sans"/>
              </a:rPr>
              <a:t>OVERALL ACCURACY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28825" y="3619500"/>
            <a:ext cx="2490311" cy="3619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100" b="1" i="0" u="none">
                <a:solidFill>
                  <a:srgbClr val="333333"/>
                </a:solidFill>
                <a:latin typeface="Open Sans"/>
              </a:rPr>
              <a:t>Detection Metrics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24625" y="3609975"/>
            <a:ext cx="4905375" cy="1143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0" i="0" u="none">
                <a:solidFill>
                  <a:srgbClr val="555555"/>
                </a:solidFill>
                <a:latin typeface="Open Sans"/>
              </a:rPr>
              <a:t>The model successfully balances identifying true threats against a massive volume of normal traffic, providing a robust safety net without drowning analysts in false positives.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790700" y="4171950"/>
            <a:ext cx="695325" cy="4667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700" b="1" i="0" u="none">
                <a:solidFill>
                  <a:srgbClr val="00A3E0"/>
                </a:solidFill>
                <a:latin typeface="Open Sans"/>
              </a:rPr>
              <a:t>0.67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790700" y="4638675"/>
            <a:ext cx="695325" cy="1809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50" b="0" i="0" u="none">
                <a:solidFill>
                  <a:srgbClr val="666666"/>
                </a:solidFill>
                <a:latin typeface="Open Sans"/>
              </a:rPr>
              <a:t>PRECISION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867025" y="4171950"/>
            <a:ext cx="695325" cy="4667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700" b="1" i="0" u="none">
                <a:solidFill>
                  <a:srgbClr val="00A3E0"/>
                </a:solidFill>
                <a:latin typeface="Open Sans"/>
              </a:rPr>
              <a:t>0.67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867025" y="4638675"/>
            <a:ext cx="695325" cy="1809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50" b="0" i="0" u="none">
                <a:solidFill>
                  <a:srgbClr val="666666"/>
                </a:solidFill>
                <a:latin typeface="Open Sans"/>
              </a:rPr>
              <a:t>RECALL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943350" y="4171950"/>
            <a:ext cx="695325" cy="4667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700" b="1" i="0" u="none">
                <a:solidFill>
                  <a:srgbClr val="EE3124"/>
                </a:solidFill>
                <a:latin typeface="Open Sans"/>
              </a:rPr>
              <a:t>0.67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943350" y="4638675"/>
            <a:ext cx="695325" cy="1809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50" b="0" i="0" u="none">
                <a:solidFill>
                  <a:srgbClr val="666666"/>
                </a:solidFill>
                <a:latin typeface="Open Sans"/>
              </a:rPr>
              <a:t>F1 SCORE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71500" y="571500"/>
            <a:ext cx="11601450" cy="647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600" b="1" i="0" u="none">
                <a:solidFill>
                  <a:srgbClr val="333333"/>
                </a:solidFill>
                <a:latin typeface="Open Sans"/>
              </a:rPr>
              <a:t>Model Performance &amp; Results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71500" y="1285875"/>
            <a:ext cx="11049000" cy="28575"/>
          </a:xfrm>
          <a:prstGeom prst="rect">
            <a:avLst/>
          </a:prstGeom>
          <a:solidFill>
            <a:srgbClr val="EE31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3950" y="1695450"/>
            <a:ext cx="3060650" cy="30099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65600" y="1695450"/>
            <a:ext cx="3060650" cy="30099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07250" y="1695450"/>
            <a:ext cx="3060799" cy="30099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247696" y="3048000"/>
            <a:ext cx="2803631" cy="3143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800" b="1" i="0" u="none">
                <a:solidFill>
                  <a:srgbClr val="333333"/>
                </a:solidFill>
                <a:latin typeface="Open Sans"/>
              </a:rPr>
              <a:t>Reduced Alert Fatigue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14450" y="3457575"/>
            <a:ext cx="2670125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800"/>
              </a:lnSpc>
            </a:pPr>
            <a:r>
              <a:rPr sz="1200" b="0" i="0" u="none">
                <a:solidFill>
                  <a:srgbClr val="666666"/>
                </a:solidFill>
                <a:latin typeface="Open Sans"/>
              </a:rPr>
              <a:t>Filters noise, focusing analysts only on high-fidelity anomalies.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689347" y="3048000"/>
            <a:ext cx="2803631" cy="3143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800" b="1" i="0" u="none">
                <a:solidFill>
                  <a:srgbClr val="333333"/>
                </a:solidFill>
                <a:latin typeface="Open Sans"/>
              </a:rPr>
              <a:t>Explainable AI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56100" y="3457575"/>
            <a:ext cx="2670125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800"/>
              </a:lnSpc>
            </a:pPr>
            <a:r>
              <a:rPr sz="1200" b="0" i="0" u="none">
                <a:solidFill>
                  <a:srgbClr val="666666"/>
                </a:solidFill>
                <a:latin typeface="Open Sans"/>
              </a:rPr>
              <a:t>Risk scores (0-100) are accompanied by readable reasons, building SOC trust.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30993" y="3048000"/>
            <a:ext cx="2803787" cy="3143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800" b="1" i="0" u="none">
                <a:solidFill>
                  <a:srgbClr val="333333"/>
                </a:solidFill>
                <a:latin typeface="Open Sans"/>
              </a:rPr>
              <a:t>Scalable Architecture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97750" y="3457575"/>
            <a:ext cx="2670274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800"/>
              </a:lnSpc>
            </a:pPr>
            <a:r>
              <a:rPr sz="1200" b="0" i="0" u="none">
                <a:solidFill>
                  <a:srgbClr val="666666"/>
                </a:solidFill>
                <a:latin typeface="Open Sans"/>
              </a:rPr>
              <a:t>Lightweight Isolation Forest and modular Python stack are Cloud/Enterprise ready.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49400" y="2200275"/>
            <a:ext cx="600075" cy="47625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52963" y="2200275"/>
            <a:ext cx="476250" cy="47625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294762" y="2200275"/>
            <a:ext cx="476250" cy="47625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571500" y="571500"/>
            <a:ext cx="11601450" cy="647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600" b="1" i="0" u="none">
                <a:solidFill>
                  <a:srgbClr val="333333"/>
                </a:solidFill>
                <a:latin typeface="Open Sans"/>
              </a:rPr>
              <a:t>Enterprise Business Impact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71500" y="1285875"/>
            <a:ext cx="11049000" cy="28575"/>
          </a:xfrm>
          <a:prstGeom prst="rect">
            <a:avLst/>
          </a:prstGeom>
          <a:solidFill>
            <a:srgbClr val="EE31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1695450"/>
            <a:ext cx="11049000" cy="142875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1123950" y="4486275"/>
            <a:ext cx="9944100" cy="38100"/>
          </a:xfrm>
          <a:prstGeom prst="rect">
            <a:avLst/>
          </a:prstGeom>
          <a:solidFill>
            <a:srgbClr val="EE31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68705" y="3386137"/>
            <a:ext cx="2320290" cy="2095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 i="0" u="none">
                <a:solidFill>
                  <a:srgbClr val="EE3124"/>
                </a:solidFill>
                <a:latin typeface="Open Sans"/>
              </a:rPr>
              <a:t>Phase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3950" y="3643312"/>
            <a:ext cx="2209800" cy="600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575"/>
              </a:lnSpc>
            </a:pPr>
            <a:r>
              <a:rPr sz="1050" b="1" i="0" u="none">
                <a:solidFill>
                  <a:srgbClr val="666666"/>
                </a:solidFill>
                <a:latin typeface="Open Sans"/>
              </a:rPr>
              <a:t>Deep Learning</a:t>
            </a:r>
            <a:r>
              <a:t>
</a:t>
            </a:r>
            <a:r>
              <a:rPr sz="1050" b="0" i="0" u="none">
                <a:solidFill>
                  <a:srgbClr val="666666"/>
                </a:solidFill>
                <a:latin typeface="Open Sans"/>
              </a:rPr>
              <a:t> Autoencoders &amp; LSTM for sequential memory.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30955" y="4826942"/>
            <a:ext cx="2320290" cy="2095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 i="0" u="none">
                <a:solidFill>
                  <a:srgbClr val="EE3124"/>
                </a:solidFill>
                <a:latin typeface="Open Sans"/>
              </a:rPr>
              <a:t>Phase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86200" y="5084117"/>
            <a:ext cx="2209800" cy="600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575"/>
              </a:lnSpc>
            </a:pPr>
            <a:r>
              <a:rPr sz="1050" b="1" i="0" u="none">
                <a:solidFill>
                  <a:srgbClr val="666666"/>
                </a:solidFill>
                <a:latin typeface="Open Sans"/>
              </a:rPr>
              <a:t>Streaming Data</a:t>
            </a:r>
            <a:r>
              <a:t>
</a:t>
            </a:r>
            <a:r>
              <a:rPr sz="1050" b="0" i="0" u="none">
                <a:solidFill>
                  <a:srgbClr val="666666"/>
                </a:solidFill>
                <a:latin typeface="Open Sans"/>
              </a:rPr>
              <a:t> Real-time log ingestion via Apache Kafka.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93205" y="3386137"/>
            <a:ext cx="2320290" cy="2095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 i="0" u="none">
                <a:solidFill>
                  <a:srgbClr val="EE3124"/>
                </a:solidFill>
                <a:latin typeface="Open Sans"/>
              </a:rPr>
              <a:t>Phase 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48450" y="3643312"/>
            <a:ext cx="2209800" cy="600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575"/>
              </a:lnSpc>
            </a:pPr>
            <a:r>
              <a:rPr sz="1050" b="1" i="0" u="none">
                <a:solidFill>
                  <a:srgbClr val="666666"/>
                </a:solidFill>
                <a:latin typeface="Open Sans"/>
              </a:rPr>
              <a:t>Containerization</a:t>
            </a:r>
            <a:r>
              <a:t>
</a:t>
            </a:r>
            <a:r>
              <a:rPr sz="1050" b="0" i="0" u="none">
                <a:solidFill>
                  <a:srgbClr val="666666"/>
                </a:solidFill>
                <a:latin typeface="Open Sans"/>
              </a:rPr>
              <a:t> Docker &amp; Kubernetes for cloud deployment.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55455" y="4826942"/>
            <a:ext cx="2320290" cy="2095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 i="0" u="none">
                <a:solidFill>
                  <a:srgbClr val="EE3124"/>
                </a:solidFill>
                <a:latin typeface="Open Sans"/>
              </a:rPr>
              <a:t>Phase 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410700" y="5084117"/>
            <a:ext cx="2209800" cy="600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575"/>
              </a:lnSpc>
            </a:pPr>
            <a:r>
              <a:rPr sz="1050" b="1" i="0" u="none">
                <a:solidFill>
                  <a:srgbClr val="666666"/>
                </a:solidFill>
                <a:latin typeface="Open Sans"/>
              </a:rPr>
              <a:t>Integration</a:t>
            </a:r>
            <a:r>
              <a:t>
</a:t>
            </a:r>
            <a:r>
              <a:rPr sz="1050" b="0" i="0" u="none">
                <a:solidFill>
                  <a:srgbClr val="666666"/>
                </a:solidFill>
                <a:latin typeface="Open Sans"/>
              </a:rPr>
              <a:t> SIEM API hooks &amp; Threat Intel feeds.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1500" y="571500"/>
            <a:ext cx="11601450" cy="647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600" b="1" i="0" u="none">
                <a:solidFill>
                  <a:srgbClr val="333333"/>
                </a:solidFill>
                <a:latin typeface="Open Sans"/>
              </a:rPr>
              <a:t>Future Scope &amp; Roadmap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71500" y="1285875"/>
            <a:ext cx="11049000" cy="28575"/>
          </a:xfrm>
          <a:prstGeom prst="rect">
            <a:avLst/>
          </a:prstGeom>
          <a:solidFill>
            <a:srgbClr val="EE31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1625600" y="3395662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38100">
            <a:solidFill>
              <a:srgbClr val="EE31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4394200" y="4820269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38100">
            <a:solidFill>
              <a:srgbClr val="EE31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6" name="Rounded Rectangle 15"/>
          <p:cNvSpPr/>
          <p:nvPr/>
        </p:nvSpPr>
        <p:spPr>
          <a:xfrm>
            <a:off x="7169150" y="3405187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38100">
            <a:solidFill>
              <a:srgbClr val="EE31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9925050" y="4820269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38100">
            <a:solidFill>
              <a:srgbClr val="EE31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3950" y="1695450"/>
            <a:ext cx="9944100" cy="38481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1504950" y="2600325"/>
            <a:ext cx="9182100" cy="19050"/>
          </a:xfrm>
          <a:prstGeom prst="rect">
            <a:avLst/>
          </a:prstGeom>
          <a:solidFill>
            <a:srgbClr val="555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1504950" y="3381375"/>
            <a:ext cx="9182100" cy="19050"/>
          </a:xfrm>
          <a:prstGeom prst="rect">
            <a:avLst/>
          </a:prstGeom>
          <a:solidFill>
            <a:srgbClr val="555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1504950" y="4391025"/>
            <a:ext cx="9182100" cy="19050"/>
          </a:xfrm>
          <a:prstGeom prst="rect">
            <a:avLst/>
          </a:prstGeom>
          <a:solidFill>
            <a:srgbClr val="555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504950" y="2076450"/>
            <a:ext cx="1428750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EE3124"/>
                </a:solidFill>
                <a:latin typeface="Open Sans"/>
              </a:rPr>
              <a:t>Problem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933700" y="2076450"/>
            <a:ext cx="7753350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FFFFFF"/>
                </a:solidFill>
                <a:latin typeface="Open Sans"/>
              </a:rPr>
              <a:t>Rule-based security perimeters fail against compromised identities.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04950" y="2857500"/>
            <a:ext cx="1428750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EE3124"/>
                </a:solidFill>
                <a:latin typeface="Open Sans"/>
              </a:rPr>
              <a:t>Approach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33700" y="2857500"/>
            <a:ext cx="7753350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FFFFFF"/>
                </a:solidFill>
                <a:latin typeface="Open Sans"/>
              </a:rPr>
              <a:t>Unsupervised behavioral anomaly detection using Isolation Forest.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04950" y="3638550"/>
            <a:ext cx="1260127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EE3124"/>
                </a:solidFill>
                <a:latin typeface="Open Sans"/>
              </a:rPr>
              <a:t>Execution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65077" y="3638550"/>
            <a:ext cx="7921972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FFFFFF"/>
                </a:solidFill>
                <a:latin typeface="Open Sans"/>
              </a:rPr>
              <a:t>Modular Python stack featuring dynamic synthetic data generation and an interactive SOC Dashboard.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04950" y="4648200"/>
            <a:ext cx="1210270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EE3124"/>
                </a:solidFill>
                <a:latin typeface="Open Sans"/>
              </a:rPr>
              <a:t>Impact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15220" y="4648200"/>
            <a:ext cx="7971829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FFFFFF"/>
                </a:solidFill>
                <a:latin typeface="Open Sans"/>
              </a:rPr>
              <a:t>Empowers SOC teams with explainable, high-fidelity alerts, reducing fatigue and detecting zero-day threats.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71500" y="571500"/>
            <a:ext cx="11601450" cy="647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600" b="1" i="0" u="none">
                <a:solidFill>
                  <a:srgbClr val="333333"/>
                </a:solidFill>
                <a:latin typeface="Open Sans"/>
              </a:rPr>
              <a:t>Executive Summary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71500" y="1285875"/>
            <a:ext cx="11049000" cy="28575"/>
          </a:xfrm>
          <a:prstGeom prst="rect">
            <a:avLst/>
          </a:prstGeom>
          <a:solidFill>
            <a:srgbClr val="EE31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222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90850" y="2357437"/>
            <a:ext cx="6629400" cy="30099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981450" y="842962"/>
            <a:ext cx="4440555" cy="9233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IN" sz="6000" b="1" i="0" u="none" dirty="0">
                <a:solidFill>
                  <a:srgbClr val="FFFFFF"/>
                </a:solidFill>
                <a:latin typeface="Open Sans"/>
              </a:rPr>
              <a:t>Thank You</a:t>
            </a:r>
            <a:endParaRPr sz="6000" b="1" i="0" u="none" dirty="0">
              <a:solidFill>
                <a:srgbClr val="FFFFFF"/>
              </a:solidFill>
              <a:latin typeface="Open Sans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3540125" y="2690812"/>
            <a:ext cx="6140767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IN" sz="2400" b="1" dirty="0">
                <a:solidFill>
                  <a:srgbClr val="FFFFFF"/>
                </a:solidFill>
                <a:latin typeface="Open Sans"/>
              </a:rPr>
              <a:t>Raj Gaurav</a:t>
            </a:r>
            <a:endParaRPr sz="2400" b="1" i="0" u="none" dirty="0">
              <a:solidFill>
                <a:srgbClr val="FFFFFF"/>
              </a:solidFill>
              <a:latin typeface="Open Sans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3540125" y="3290887"/>
            <a:ext cx="5848350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0" i="0" u="none">
                <a:solidFill>
                  <a:srgbClr val="AAAAAA"/>
                </a:solidFill>
                <a:latin typeface="Open Sans"/>
              </a:rPr>
              <a:t>AI Engineer / Cybersecurity Architect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40125" y="3895725"/>
            <a:ext cx="285750" cy="1905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3968750" y="3862387"/>
            <a:ext cx="3346450" cy="2308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IN" sz="1500" dirty="0">
                <a:solidFill>
                  <a:srgbClr val="FFFFFF"/>
                </a:solidFill>
                <a:latin typeface="Open Sans"/>
              </a:rPr>
              <a:t>https://github.com/RajGaurav2691</a:t>
            </a:r>
            <a:endParaRPr sz="1500" b="0" i="0" u="none" dirty="0">
              <a:solidFill>
                <a:srgbClr val="FFFFFF"/>
              </a:solidFill>
              <a:latin typeface="Open Sans"/>
            </a:endParaRP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40125" y="4295775"/>
            <a:ext cx="285750" cy="1905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3968750" y="4262437"/>
            <a:ext cx="4870450" cy="2308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IN" sz="1500" dirty="0">
                <a:solidFill>
                  <a:srgbClr val="FFFFFF"/>
                </a:solidFill>
                <a:latin typeface="Open Sans"/>
              </a:rPr>
              <a:t>https://www.linkedin.com/in/raj-gaurav-42124628a/</a:t>
            </a:r>
            <a:endParaRPr sz="1500" b="0" i="0" u="none" dirty="0">
              <a:solidFill>
                <a:srgbClr val="FFFFFF"/>
              </a:solidFill>
              <a:latin typeface="Open Sans"/>
            </a:endParaRP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40125" y="4695825"/>
            <a:ext cx="285750" cy="1905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3968750" y="4662487"/>
            <a:ext cx="2219325" cy="4616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IN" sz="1500" dirty="0">
                <a:solidFill>
                  <a:srgbClr val="FFFFFF"/>
                </a:solidFill>
                <a:latin typeface="Open Sans"/>
              </a:rPr>
              <a:t>rajgaura327@gmail.com</a:t>
            </a:r>
          </a:p>
          <a:p>
            <a:pPr algn="l"/>
            <a:endParaRPr sz="1500" b="0" i="0" u="none" dirty="0">
              <a:solidFill>
                <a:srgbClr val="FFFFFF"/>
              </a:solidFill>
              <a:latin typeface="Open San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642</Words>
  <Application>Microsoft Office PowerPoint</Application>
  <PresentationFormat>Widescreen</PresentationFormat>
  <Paragraphs>112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9" baseType="lpstr">
      <vt:lpstr>Arial</vt:lpstr>
      <vt:lpstr>Calibri</vt:lpstr>
      <vt:lpstr>monospace</vt:lpstr>
      <vt:lpstr>Open Sans</vt:lpstr>
      <vt:lpstr>Open Sans SemiBold</vt:lpstr>
      <vt:lpstr>Segoe UI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Raj Gaurav</cp:lastModifiedBy>
  <cp:revision>2</cp:revision>
  <dcterms:created xsi:type="dcterms:W3CDTF">2013-01-27T09:14:16Z</dcterms:created>
  <dcterms:modified xsi:type="dcterms:W3CDTF">2026-07-26T12:30:19Z</dcterms:modified>
  <cp:category/>
</cp:coreProperties>
</file>