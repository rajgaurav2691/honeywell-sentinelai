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00" d="100"/>
          <a:sy n="100" d="100"/>
        </p:scale>
        <p:origin x="153" y="10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11" Type="http://schemas.openxmlformats.org/officeDocument/2006/relationships/image" Target="../media/image19.png"/><Relationship Id="rId5" Type="http://schemas.openxmlformats.org/officeDocument/2006/relationships/image" Target="../media/image13.png"/><Relationship Id="rId10" Type="http://schemas.openxmlformats.org/officeDocument/2006/relationships/image" Target="../media/image18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31.png"/><Relationship Id="rId18" Type="http://schemas.openxmlformats.org/officeDocument/2006/relationships/image" Target="../media/image36.png"/><Relationship Id="rId3" Type="http://schemas.openxmlformats.org/officeDocument/2006/relationships/image" Target="../media/image21.png"/><Relationship Id="rId21" Type="http://schemas.openxmlformats.org/officeDocument/2006/relationships/image" Target="../media/image39.png"/><Relationship Id="rId7" Type="http://schemas.openxmlformats.org/officeDocument/2006/relationships/image" Target="../media/image25.png"/><Relationship Id="rId12" Type="http://schemas.openxmlformats.org/officeDocument/2006/relationships/image" Target="../media/image30.png"/><Relationship Id="rId17" Type="http://schemas.openxmlformats.org/officeDocument/2006/relationships/image" Target="../media/image35.png"/><Relationship Id="rId2" Type="http://schemas.openxmlformats.org/officeDocument/2006/relationships/image" Target="../media/image20.png"/><Relationship Id="rId16" Type="http://schemas.openxmlformats.org/officeDocument/2006/relationships/image" Target="../media/image34.png"/><Relationship Id="rId20" Type="http://schemas.openxmlformats.org/officeDocument/2006/relationships/image" Target="../media/image3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.png"/><Relationship Id="rId11" Type="http://schemas.openxmlformats.org/officeDocument/2006/relationships/image" Target="../media/image29.png"/><Relationship Id="rId24" Type="http://schemas.openxmlformats.org/officeDocument/2006/relationships/image" Target="../media/image42.png"/><Relationship Id="rId5" Type="http://schemas.openxmlformats.org/officeDocument/2006/relationships/image" Target="../media/image23.png"/><Relationship Id="rId15" Type="http://schemas.openxmlformats.org/officeDocument/2006/relationships/image" Target="../media/image33.png"/><Relationship Id="rId23" Type="http://schemas.openxmlformats.org/officeDocument/2006/relationships/image" Target="../media/image41.png"/><Relationship Id="rId10" Type="http://schemas.openxmlformats.org/officeDocument/2006/relationships/image" Target="../media/image28.png"/><Relationship Id="rId19" Type="http://schemas.openxmlformats.org/officeDocument/2006/relationships/image" Target="../media/image37.png"/><Relationship Id="rId4" Type="http://schemas.openxmlformats.org/officeDocument/2006/relationships/image" Target="../media/image22.png"/><Relationship Id="rId9" Type="http://schemas.openxmlformats.org/officeDocument/2006/relationships/image" Target="../media/image27.png"/><Relationship Id="rId14" Type="http://schemas.openxmlformats.org/officeDocument/2006/relationships/image" Target="../media/image32.png"/><Relationship Id="rId22" Type="http://schemas.openxmlformats.org/officeDocument/2006/relationships/image" Target="../media/image40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13" Type="http://schemas.openxmlformats.org/officeDocument/2006/relationships/image" Target="../media/image54.png"/><Relationship Id="rId3" Type="http://schemas.openxmlformats.org/officeDocument/2006/relationships/image" Target="../media/image44.png"/><Relationship Id="rId7" Type="http://schemas.openxmlformats.org/officeDocument/2006/relationships/image" Target="../media/image48.png"/><Relationship Id="rId12" Type="http://schemas.openxmlformats.org/officeDocument/2006/relationships/image" Target="../media/image53.png"/><Relationship Id="rId17" Type="http://schemas.openxmlformats.org/officeDocument/2006/relationships/image" Target="../media/image17.png"/><Relationship Id="rId2" Type="http://schemas.openxmlformats.org/officeDocument/2006/relationships/image" Target="../media/image43.png"/><Relationship Id="rId16" Type="http://schemas.openxmlformats.org/officeDocument/2006/relationships/image" Target="../media/image5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7.png"/><Relationship Id="rId11" Type="http://schemas.openxmlformats.org/officeDocument/2006/relationships/image" Target="../media/image52.png"/><Relationship Id="rId5" Type="http://schemas.openxmlformats.org/officeDocument/2006/relationships/image" Target="../media/image46.png"/><Relationship Id="rId15" Type="http://schemas.openxmlformats.org/officeDocument/2006/relationships/image" Target="../media/image56.png"/><Relationship Id="rId10" Type="http://schemas.openxmlformats.org/officeDocument/2006/relationships/image" Target="../media/image51.png"/><Relationship Id="rId4" Type="http://schemas.openxmlformats.org/officeDocument/2006/relationships/image" Target="../media/image45.png"/><Relationship Id="rId9" Type="http://schemas.openxmlformats.org/officeDocument/2006/relationships/image" Target="../media/image50.png"/><Relationship Id="rId14" Type="http://schemas.openxmlformats.org/officeDocument/2006/relationships/image" Target="../media/image5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png"/><Relationship Id="rId13" Type="http://schemas.openxmlformats.org/officeDocument/2006/relationships/image" Target="../media/image69.png"/><Relationship Id="rId3" Type="http://schemas.openxmlformats.org/officeDocument/2006/relationships/image" Target="../media/image59.png"/><Relationship Id="rId7" Type="http://schemas.openxmlformats.org/officeDocument/2006/relationships/image" Target="../media/image63.png"/><Relationship Id="rId12" Type="http://schemas.openxmlformats.org/officeDocument/2006/relationships/image" Target="../media/image68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2.png"/><Relationship Id="rId11" Type="http://schemas.openxmlformats.org/officeDocument/2006/relationships/image" Target="../media/image67.png"/><Relationship Id="rId5" Type="http://schemas.openxmlformats.org/officeDocument/2006/relationships/image" Target="../media/image61.png"/><Relationship Id="rId15" Type="http://schemas.openxmlformats.org/officeDocument/2006/relationships/image" Target="../media/image71.png"/><Relationship Id="rId10" Type="http://schemas.openxmlformats.org/officeDocument/2006/relationships/image" Target="../media/image66.png"/><Relationship Id="rId4" Type="http://schemas.openxmlformats.org/officeDocument/2006/relationships/image" Target="../media/image60.png"/><Relationship Id="rId9" Type="http://schemas.openxmlformats.org/officeDocument/2006/relationships/image" Target="../media/image65.png"/><Relationship Id="rId14" Type="http://schemas.openxmlformats.org/officeDocument/2006/relationships/image" Target="../media/image70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.png"/><Relationship Id="rId3" Type="http://schemas.openxmlformats.org/officeDocument/2006/relationships/image" Target="../media/image73.png"/><Relationship Id="rId7" Type="http://schemas.openxmlformats.org/officeDocument/2006/relationships/image" Target="../media/image77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6.png"/><Relationship Id="rId5" Type="http://schemas.openxmlformats.org/officeDocument/2006/relationships/image" Target="../media/image75.png"/><Relationship Id="rId4" Type="http://schemas.openxmlformats.org/officeDocument/2006/relationships/image" Target="../media/image7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71500" y="890587"/>
            <a:ext cx="5200650" cy="1257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4950"/>
              </a:lnSpc>
            </a:pPr>
            <a:r>
              <a:rPr sz="4500" b="1" i="0" u="none">
                <a:solidFill>
                  <a:srgbClr val="0F172A"/>
                </a:solidFill>
                <a:latin typeface="Segoe UI"/>
              </a:rPr>
              <a:t>Honeywell </a:t>
            </a:r>
            <a:r>
              <a:t>
</a:t>
            </a:r>
            <a:r>
              <a:rPr sz="4500" b="1" i="0" u="none">
                <a:solidFill>
                  <a:srgbClr val="0284C7"/>
                </a:solidFill>
                <a:latin typeface="Segoe UI"/>
              </a:rPr>
              <a:t>SentinelAI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2290762"/>
            <a:ext cx="4953000" cy="704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sz="1800" b="0" i="0" u="none">
                <a:solidFill>
                  <a:srgbClr val="475569"/>
                </a:solidFill>
                <a:latin typeface="Open Sans SemiBold"/>
              </a:rPr>
              <a:t>AI-Powered Behavioral Anomaly Detection for Enterprise Cybersecurity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571500" y="3262312"/>
            <a:ext cx="4953000" cy="190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0"/>
            <a:ext cx="6096000" cy="68580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5672137"/>
            <a:ext cx="1019175" cy="295275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3550" y="5672137"/>
            <a:ext cx="1600200" cy="295275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3681412"/>
            <a:ext cx="228600" cy="1905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4100512"/>
            <a:ext cx="228600" cy="19050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1500" y="4519612"/>
            <a:ext cx="228600" cy="19050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1500" y="4938712"/>
            <a:ext cx="228600" cy="190500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1500" y="5758301"/>
            <a:ext cx="171450" cy="13335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757362" y="5757862"/>
            <a:ext cx="133350" cy="13335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D599C506-46B2-275C-B807-0EB569A9AA90}"/>
              </a:ext>
            </a:extLst>
          </p:cNvPr>
          <p:cNvSpPr txBox="1"/>
          <p:nvPr/>
        </p:nvSpPr>
        <p:spPr>
          <a:xfrm>
            <a:off x="1041009" y="3653641"/>
            <a:ext cx="6096000" cy="995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spcAft>
                <a:spcPts val="1125"/>
              </a:spcAft>
              <a:buNone/>
            </a:pPr>
            <a:r>
              <a:rPr lang="en-IN" sz="1350" b="1" i="0" dirty="0">
                <a:solidFill>
                  <a:srgbClr val="475569"/>
                </a:solidFill>
                <a:effectLst/>
                <a:latin typeface="Open Sans" panose="020B0606030504020204" pitchFamily="34" charset="0"/>
              </a:rPr>
              <a:t>Presented by : </a:t>
            </a:r>
            <a:r>
              <a:rPr lang="en-IN" sz="1350" b="0" i="0" dirty="0">
                <a:solidFill>
                  <a:srgbClr val="475569"/>
                </a:solidFill>
                <a:effectLst/>
                <a:latin typeface="Open Sans" panose="020B0606030504020204" pitchFamily="34" charset="0"/>
              </a:rPr>
              <a:t>Raj Gaurav</a:t>
            </a:r>
          </a:p>
          <a:p>
            <a:pPr>
              <a:buNone/>
            </a:pPr>
            <a:br>
              <a:rPr lang="en-IN" dirty="0"/>
            </a:br>
            <a:endParaRPr lang="en-IN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0EF98D0-4B66-D42C-401E-4EFD2D856283}"/>
              </a:ext>
            </a:extLst>
          </p:cNvPr>
          <p:cNvSpPr txBox="1"/>
          <p:nvPr/>
        </p:nvSpPr>
        <p:spPr>
          <a:xfrm>
            <a:off x="1041009" y="4046820"/>
            <a:ext cx="6096000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350" b="1" i="0" dirty="0">
                <a:solidFill>
                  <a:srgbClr val="475569"/>
                </a:solidFill>
                <a:effectLst/>
                <a:latin typeface="Open Sans" panose="020B0606030504020204" pitchFamily="34" charset="0"/>
              </a:rPr>
              <a:t>Email:</a:t>
            </a:r>
            <a:r>
              <a:rPr lang="en-IN" sz="1350" b="0" i="0" dirty="0">
                <a:solidFill>
                  <a:srgbClr val="475569"/>
                </a:solidFill>
                <a:effectLst/>
                <a:latin typeface="Open Sans" panose="020B0606030504020204" pitchFamily="34" charset="0"/>
              </a:rPr>
              <a:t>rajgaura327@gmail.com</a:t>
            </a:r>
            <a:endParaRPr lang="en-IN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16D305F-3B04-1804-429D-DAC1BDB99B43}"/>
              </a:ext>
            </a:extLst>
          </p:cNvPr>
          <p:cNvSpPr txBox="1"/>
          <p:nvPr/>
        </p:nvSpPr>
        <p:spPr>
          <a:xfrm>
            <a:off x="1041009" y="4456556"/>
            <a:ext cx="6096000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350" b="1" i="0" dirty="0" err="1">
                <a:solidFill>
                  <a:srgbClr val="475569"/>
                </a:solidFill>
                <a:effectLst/>
                <a:latin typeface="Open Sans" panose="020B0606030504020204" pitchFamily="34" charset="0"/>
              </a:rPr>
              <a:t>GitHub:</a:t>
            </a:r>
            <a:r>
              <a:rPr lang="en-IN" sz="1350" b="0" i="0" dirty="0" err="1">
                <a:solidFill>
                  <a:srgbClr val="475569"/>
                </a:solidFill>
                <a:effectLst/>
                <a:latin typeface="Open Sans" panose="020B0606030504020204" pitchFamily="34" charset="0"/>
              </a:rPr>
              <a:t>github.com</a:t>
            </a:r>
            <a:r>
              <a:rPr lang="en-IN" sz="1350" b="0" i="0" dirty="0">
                <a:solidFill>
                  <a:srgbClr val="475569"/>
                </a:solidFill>
                <a:effectLst/>
                <a:latin typeface="Open Sans" panose="020B0606030504020204" pitchFamily="34" charset="0"/>
              </a:rPr>
              <a:t>/RajGaurav2691</a:t>
            </a:r>
            <a:endParaRPr lang="en-IN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7C42655-48CE-3C1E-CE24-A5EAEFFF2B72}"/>
              </a:ext>
            </a:extLst>
          </p:cNvPr>
          <p:cNvSpPr txBox="1"/>
          <p:nvPr/>
        </p:nvSpPr>
        <p:spPr>
          <a:xfrm>
            <a:off x="1041009" y="4914305"/>
            <a:ext cx="6096000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350" b="1" i="0" dirty="0" err="1">
                <a:solidFill>
                  <a:srgbClr val="475569"/>
                </a:solidFill>
                <a:effectLst/>
                <a:latin typeface="Open Sans" panose="020B0606030504020204" pitchFamily="34" charset="0"/>
              </a:rPr>
              <a:t>LinkedIn:</a:t>
            </a:r>
            <a:r>
              <a:rPr lang="en-IN" sz="1350" b="0" i="0" dirty="0" err="1">
                <a:solidFill>
                  <a:srgbClr val="475569"/>
                </a:solidFill>
                <a:effectLst/>
                <a:latin typeface="Open Sans" panose="020B0606030504020204" pitchFamily="34" charset="0"/>
              </a:rPr>
              <a:t>linkedin.com</a:t>
            </a:r>
            <a:r>
              <a:rPr lang="en-IN" sz="1350" b="0" i="0" dirty="0">
                <a:solidFill>
                  <a:srgbClr val="475569"/>
                </a:solidFill>
                <a:effectLst/>
                <a:latin typeface="Open Sans" panose="020B0606030504020204" pitchFamily="34" charset="0"/>
              </a:rPr>
              <a:t>/in/raj-gaurav-42124628a/</a:t>
            </a:r>
            <a:endParaRPr lang="en-IN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352550"/>
            <a:ext cx="5334000" cy="50292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6500" y="1352550"/>
            <a:ext cx="5334000" cy="50292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150" y="3305175"/>
            <a:ext cx="4838700" cy="282892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4150" y="4800600"/>
            <a:ext cx="4838700" cy="1333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1500" y="476250"/>
            <a:ext cx="11601450" cy="495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150" b="1" i="0" u="none">
                <a:solidFill>
                  <a:srgbClr val="0F172A"/>
                </a:solidFill>
                <a:latin typeface="Segoe UI"/>
              </a:rPr>
              <a:t>Problem &amp; Proposed Solution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71500" y="1028700"/>
            <a:ext cx="11049000" cy="3810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43000" y="1628775"/>
            <a:ext cx="4740592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1" i="0" u="none">
                <a:solidFill>
                  <a:srgbClr val="EF4444"/>
                </a:solidFill>
                <a:latin typeface="Segoe UI"/>
              </a:rPr>
              <a:t>The Problem</a:t>
            </a:r>
          </a:p>
        </p:txBody>
      </p:sp>
      <p:sp>
        <p:nvSpPr>
          <p:cNvPr id="9" name="Rectangle 8"/>
          <p:cNvSpPr/>
          <p:nvPr/>
        </p:nvSpPr>
        <p:spPr>
          <a:xfrm>
            <a:off x="819150" y="1990725"/>
            <a:ext cx="4838700" cy="19050"/>
          </a:xfrm>
          <a:prstGeom prst="rect">
            <a:avLst/>
          </a:prstGeom>
          <a:solidFill>
            <a:srgbClr val="FE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19150" y="2200275"/>
            <a:ext cx="4838700" cy="7715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0" i="0" u="none">
                <a:solidFill>
                  <a:srgbClr val="334155"/>
                </a:solidFill>
                <a:latin typeface="Open Sans"/>
              </a:rPr>
              <a:t>Traditional SIEM solutions rely on static rules and signatures, resulting in false positives, alert fatigue, and an inability to detect zero-day behavioural attacks.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1628775"/>
            <a:ext cx="4740592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1" i="0" u="none">
                <a:solidFill>
                  <a:srgbClr val="0284C7"/>
                </a:solidFill>
                <a:latin typeface="Segoe UI"/>
              </a:rPr>
              <a:t>Our Solution: SentinelAI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34150" y="1990725"/>
            <a:ext cx="4838700" cy="19050"/>
          </a:xfrm>
          <a:prstGeom prst="rect">
            <a:avLst/>
          </a:prstGeom>
          <a:solidFill>
            <a:srgbClr val="BAE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150" y="1647825"/>
            <a:ext cx="228600" cy="2286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09650" y="3495675"/>
            <a:ext cx="4680585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0F172A"/>
                </a:solidFill>
                <a:latin typeface="Segoe UI"/>
              </a:rPr>
              <a:t>Threat Vectors: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34150" y="1647825"/>
            <a:ext cx="228600" cy="2286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867525" y="2295525"/>
            <a:ext cx="4505325" cy="239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sz="1350" b="1" i="0" u="none">
                <a:solidFill>
                  <a:srgbClr val="334155"/>
                </a:solidFill>
                <a:latin typeface="Open Sans"/>
              </a:rPr>
              <a:t>Behavioural Analytics:</a:t>
            </a:r>
            <a:r>
              <a:rPr sz="1350" b="0" i="0" u="none">
                <a:solidFill>
                  <a:srgbClr val="334155"/>
                </a:solidFill>
                <a:latin typeface="Open Sans"/>
              </a:rPr>
              <a:t> Learns normal user baselines.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67525" y="2649735"/>
            <a:ext cx="4505325" cy="239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sz="1350" b="1" i="0" u="none">
                <a:solidFill>
                  <a:srgbClr val="334155"/>
                </a:solidFill>
                <a:latin typeface="Open Sans"/>
              </a:rPr>
              <a:t>Isolation Forest:</a:t>
            </a:r>
            <a:r>
              <a:rPr sz="1350" b="0" i="0" u="none">
                <a:solidFill>
                  <a:srgbClr val="334155"/>
                </a:solidFill>
                <a:latin typeface="Open Sans"/>
              </a:rPr>
              <a:t> Unsupervised Machine Learning.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67525" y="3003946"/>
            <a:ext cx="4505325" cy="239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sz="1350" b="1" i="0" u="none">
                <a:solidFill>
                  <a:srgbClr val="334155"/>
                </a:solidFill>
                <a:latin typeface="Open Sans"/>
              </a:rPr>
              <a:t>Feature Engineering:</a:t>
            </a:r>
            <a:r>
              <a:rPr sz="1350" b="0" i="0" u="none">
                <a:solidFill>
                  <a:srgbClr val="334155"/>
                </a:solidFill>
                <a:latin typeface="Open Sans"/>
              </a:rPr>
              <a:t> Contextual data enrichment.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67525" y="3358157"/>
            <a:ext cx="4505325" cy="239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sz="1350" b="1" i="0" u="none">
                <a:solidFill>
                  <a:srgbClr val="334155"/>
                </a:solidFill>
                <a:latin typeface="Open Sans"/>
              </a:rPr>
              <a:t>Explainable Risk Score:</a:t>
            </a:r>
            <a:r>
              <a:rPr sz="1350" b="0" i="0" u="none">
                <a:solidFill>
                  <a:srgbClr val="334155"/>
                </a:solidFill>
                <a:latin typeface="Open Sans"/>
              </a:rPr>
              <a:t> 0–100 actionable metric.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67525" y="3712368"/>
            <a:ext cx="4505325" cy="239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sz="1350" b="1" i="0" u="none">
                <a:solidFill>
                  <a:srgbClr val="334155"/>
                </a:solidFill>
                <a:latin typeface="Open Sans"/>
              </a:rPr>
              <a:t>SOC Dashboard:</a:t>
            </a:r>
            <a:r>
              <a:rPr sz="1350" b="0" i="0" u="none">
                <a:solidFill>
                  <a:srgbClr val="334155"/>
                </a:solidFill>
                <a:latin typeface="Open Sans"/>
              </a:rPr>
              <a:t> Interactive visual interface.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34175" y="5000625"/>
            <a:ext cx="4660582" cy="171450"/>
          </a:xfrm>
          <a:prstGeom prst="rect">
            <a:avLst/>
          </a:prstGeom>
          <a:noFill/>
        </p:spPr>
        <p:txBody>
          <a:bodyPr wrap="square" lIns="11430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0F172A"/>
                </a:solidFill>
                <a:latin typeface="Segoe UI"/>
              </a:rPr>
              <a:t>Key Innovations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91196" y="5271254"/>
            <a:ext cx="4793419" cy="215444"/>
          </a:xfrm>
          <a:prstGeom prst="rect">
            <a:avLst/>
          </a:prstGeom>
          <a:noFill/>
        </p:spPr>
        <p:txBody>
          <a:bodyPr wrap="square" lIns="2266950" tIns="0" rIns="0" bIns="0" anchor="t">
            <a:spAutoFit/>
          </a:bodyPr>
          <a:lstStyle/>
          <a:p>
            <a:r>
              <a:rPr lang="en-IN" sz="1400"/>
              <a:t> Detects Zero-Day Threats</a:t>
            </a:r>
            <a:endParaRPr sz="1400" b="0" i="0" u="none" dirty="0">
              <a:solidFill>
                <a:srgbClr val="334155"/>
              </a:solidFill>
              <a:latin typeface="Open Sans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343025" y="3810000"/>
            <a:ext cx="4124325" cy="239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sz="1350" b="0" i="0" u="none">
                <a:solidFill>
                  <a:srgbClr val="334155"/>
                </a:solidFill>
                <a:latin typeface="Open Sans"/>
              </a:rPr>
              <a:t>Credential Theft &amp; Stuffing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43025" y="4164210"/>
            <a:ext cx="4124325" cy="239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sz="1350" b="0" i="0" u="none">
                <a:solidFill>
                  <a:srgbClr val="334155"/>
                </a:solidFill>
                <a:latin typeface="Open Sans"/>
              </a:rPr>
              <a:t>Brute Force Attacks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3025" y="4518421"/>
            <a:ext cx="4124325" cy="239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sz="1350" b="0" i="0" u="none">
                <a:solidFill>
                  <a:srgbClr val="334155"/>
                </a:solidFill>
                <a:latin typeface="Open Sans"/>
              </a:rPr>
              <a:t>Impossible Travel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43025" y="4872632"/>
            <a:ext cx="4124325" cy="239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sz="1350" b="0" i="0" u="none">
                <a:solidFill>
                  <a:srgbClr val="334155"/>
                </a:solidFill>
                <a:latin typeface="Open Sans"/>
              </a:rPr>
              <a:t>Insider Threat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3025" y="5226843"/>
            <a:ext cx="4124325" cy="239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sz="1350" b="0" i="0" u="none">
                <a:solidFill>
                  <a:srgbClr val="334155"/>
                </a:solidFill>
                <a:latin typeface="Open Sans"/>
              </a:rPr>
              <a:t>Lateral Movement</a:t>
            </a:r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34175" y="5000625"/>
            <a:ext cx="114300" cy="152400"/>
          </a:xfrm>
          <a:prstGeom prst="rect">
            <a:avLst/>
          </a:prstGeom>
        </p:spPr>
      </p:pic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34150" y="2319337"/>
            <a:ext cx="152400" cy="180975"/>
          </a:xfrm>
          <a:prstGeom prst="rect">
            <a:avLst/>
          </a:prstGeom>
        </p:spPr>
      </p:pic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34150" y="2673548"/>
            <a:ext cx="152400" cy="180975"/>
          </a:xfrm>
          <a:prstGeom prst="rect">
            <a:avLst/>
          </a:prstGeom>
        </p:spPr>
      </p:pic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34150" y="3027759"/>
            <a:ext cx="152400" cy="180975"/>
          </a:xfrm>
          <a:prstGeom prst="rect">
            <a:avLst/>
          </a:prstGeom>
        </p:spPr>
      </p:pic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34150" y="3381970"/>
            <a:ext cx="152400" cy="180975"/>
          </a:xfrm>
          <a:prstGeom prst="rect">
            <a:avLst/>
          </a:prstGeom>
        </p:spPr>
      </p:pic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34150" y="3736181"/>
            <a:ext cx="152400" cy="180975"/>
          </a:xfrm>
          <a:prstGeom prst="rect">
            <a:avLst/>
          </a:prstGeom>
        </p:spPr>
      </p:pic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34175" y="5295900"/>
            <a:ext cx="76200" cy="142875"/>
          </a:xfrm>
          <a:prstGeom prst="rect">
            <a:avLst/>
          </a:prstGeom>
        </p:spPr>
      </p:pic>
      <p:pic>
        <p:nvPicPr>
          <p:cNvPr id="35" name="Picture 34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01125" y="5295900"/>
            <a:ext cx="76200" cy="142875"/>
          </a:xfrm>
          <a:prstGeom prst="rect">
            <a:avLst/>
          </a:prstGeom>
        </p:spPr>
      </p:pic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34175" y="5581650"/>
            <a:ext cx="76200" cy="142875"/>
          </a:xfrm>
          <a:prstGeom prst="rect">
            <a:avLst/>
          </a:prstGeom>
        </p:spPr>
      </p:pic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01125" y="5581650"/>
            <a:ext cx="76200" cy="142875"/>
          </a:xfrm>
          <a:prstGeom prst="rect">
            <a:avLst/>
          </a:prstGeom>
        </p:spPr>
      </p:pic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9650" y="3833812"/>
            <a:ext cx="123825" cy="180975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9650" y="4188023"/>
            <a:ext cx="123825" cy="180975"/>
          </a:xfrm>
          <a:prstGeom prst="rect">
            <a:avLst/>
          </a:prstGeom>
        </p:spPr>
      </p:pic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9650" y="4542234"/>
            <a:ext cx="123825" cy="180975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9650" y="4896445"/>
            <a:ext cx="123825" cy="180975"/>
          </a:xfrm>
          <a:prstGeom prst="rect">
            <a:avLst/>
          </a:prstGeom>
        </p:spPr>
      </p:pic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9650" y="5250656"/>
            <a:ext cx="123825" cy="180975"/>
          </a:xfrm>
          <a:prstGeom prst="rect">
            <a:avLst/>
          </a:prstGeom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30C5715D-3691-8141-058E-BFF4107F68BC}"/>
              </a:ext>
            </a:extLst>
          </p:cNvPr>
          <p:cNvSpPr txBox="1"/>
          <p:nvPr/>
        </p:nvSpPr>
        <p:spPr>
          <a:xfrm>
            <a:off x="9077325" y="5517959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200"/>
              <a:t>High Precision Anomaly Detection</a:t>
            </a:r>
            <a:endParaRPr lang="en-IN" sz="12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5170E2A-019F-A1D4-5BF3-1A577B9004F1}"/>
              </a:ext>
            </a:extLst>
          </p:cNvPr>
          <p:cNvSpPr txBox="1"/>
          <p:nvPr/>
        </p:nvSpPr>
        <p:spPr>
          <a:xfrm>
            <a:off x="9105899" y="5239993"/>
            <a:ext cx="6472236" cy="2654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125" b="0" i="0" dirty="0">
                <a:solidFill>
                  <a:srgbClr val="334155"/>
                </a:solidFill>
                <a:effectLst/>
                <a:latin typeface="Open Sans" panose="020B0606030504020204" pitchFamily="34" charset="0"/>
              </a:rPr>
              <a:t>Reduces Alert Fatigue</a:t>
            </a:r>
            <a:endParaRPr lang="en-IN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843401C-4514-E80F-64F7-C5715F6A7D98}"/>
              </a:ext>
            </a:extLst>
          </p:cNvPr>
          <p:cNvSpPr txBox="1"/>
          <p:nvPr/>
        </p:nvSpPr>
        <p:spPr>
          <a:xfrm>
            <a:off x="6762750" y="5496547"/>
            <a:ext cx="7789068" cy="2654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125" b="0" i="0" dirty="0">
                <a:solidFill>
                  <a:srgbClr val="334155"/>
                </a:solidFill>
                <a:effectLst/>
                <a:latin typeface="Open Sans" panose="020B0606030504020204" pitchFamily="34" charset="0"/>
              </a:rPr>
              <a:t> Explainable AI</a:t>
            </a:r>
            <a:endParaRPr lang="en-IN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352550"/>
            <a:ext cx="3867150" cy="59817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9650" y="4133850"/>
            <a:ext cx="7181850" cy="32004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9650" y="1743075"/>
            <a:ext cx="3495675" cy="98107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5825" y="1743075"/>
            <a:ext cx="3495675" cy="98107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9650" y="2914650"/>
            <a:ext cx="3495675" cy="981075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5825" y="2914650"/>
            <a:ext cx="3495675" cy="981075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1075" y="2009775"/>
            <a:ext cx="3048000" cy="4572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1075" y="2771775"/>
            <a:ext cx="3048000" cy="45720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1075" y="3533775"/>
            <a:ext cx="3048000" cy="45720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1075" y="4295775"/>
            <a:ext cx="3048000" cy="457200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81075" y="5057775"/>
            <a:ext cx="3048000" cy="45720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81075" y="5819775"/>
            <a:ext cx="3048000" cy="457200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81075" y="6581775"/>
            <a:ext cx="3048000" cy="4572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71500" y="476250"/>
            <a:ext cx="11601450" cy="495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150" b="1" i="0" u="none">
                <a:solidFill>
                  <a:srgbClr val="0F172A"/>
                </a:solidFill>
                <a:latin typeface="Segoe UI"/>
              </a:rPr>
              <a:t>Technical Approach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1500" y="1028700"/>
            <a:ext cx="11049000" cy="3810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84834" y="1552575"/>
            <a:ext cx="3840480" cy="219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 i="0" u="none">
                <a:solidFill>
                  <a:srgbClr val="0F172A"/>
                </a:solidFill>
                <a:latin typeface="Segoe UI"/>
              </a:rPr>
              <a:t>Data Flow Pipeline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19650" y="1352550"/>
            <a:ext cx="737235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0F172A"/>
                </a:solidFill>
                <a:latin typeface="Segoe UI"/>
              </a:rPr>
              <a:t>Project Modules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19675" y="4333875"/>
            <a:ext cx="7120890" cy="219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Segoe UI"/>
              </a:rPr>
              <a:t>Machine Learning Pipeline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00625" y="1895475"/>
            <a:ext cx="3320415" cy="200025"/>
          </a:xfrm>
          <a:prstGeom prst="rect">
            <a:avLst/>
          </a:prstGeom>
          <a:noFill/>
        </p:spPr>
        <p:txBody>
          <a:bodyPr wrap="square" lIns="15240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284C7"/>
                </a:solidFill>
                <a:latin typeface="Segoe UI"/>
              </a:rPr>
              <a:t> generate_data.py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00625" y="2171700"/>
            <a:ext cx="3162300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0" i="0" u="none">
                <a:solidFill>
                  <a:srgbClr val="475569"/>
                </a:solidFill>
                <a:latin typeface="Open Sans"/>
              </a:rPr>
              <a:t>Generates realistic enterprise login events and complex attack scenarios.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1895475"/>
            <a:ext cx="3320415" cy="200025"/>
          </a:xfrm>
          <a:prstGeom prst="rect">
            <a:avLst/>
          </a:prstGeom>
          <a:noFill/>
        </p:spPr>
        <p:txBody>
          <a:bodyPr wrap="square" lIns="17145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284C7"/>
                </a:solidFill>
                <a:latin typeface="Segoe UI"/>
              </a:rPr>
              <a:t>train_model.py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2171700"/>
            <a:ext cx="3162300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0" i="0" u="none">
                <a:solidFill>
                  <a:srgbClr val="475569"/>
                </a:solidFill>
                <a:latin typeface="Open Sans"/>
              </a:rPr>
              <a:t>Data preprocessing, feature scaling, and Isolation Forest training.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00625" y="3067050"/>
            <a:ext cx="3320415" cy="200025"/>
          </a:xfrm>
          <a:prstGeom prst="rect">
            <a:avLst/>
          </a:prstGeom>
          <a:noFill/>
        </p:spPr>
        <p:txBody>
          <a:bodyPr wrap="square" lIns="17145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284C7"/>
                </a:solidFill>
                <a:latin typeface="Segoe UI"/>
              </a:rPr>
              <a:t>utils.py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00625" y="3343275"/>
            <a:ext cx="3162300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0" i="0" u="none">
                <a:solidFill>
                  <a:srgbClr val="475569"/>
                </a:solidFill>
                <a:latin typeface="Open Sans"/>
              </a:rPr>
              <a:t>Shared utilities, helper functions, and data validation.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3067050"/>
            <a:ext cx="3320415" cy="200025"/>
          </a:xfrm>
          <a:prstGeom prst="rect">
            <a:avLst/>
          </a:prstGeom>
          <a:noFill/>
        </p:spPr>
        <p:txBody>
          <a:bodyPr wrap="square" lIns="19050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284C7"/>
                </a:solidFill>
                <a:latin typeface="Segoe UI"/>
              </a:rPr>
              <a:t>dashboard.py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3343275"/>
            <a:ext cx="3162300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0" i="0" u="none">
                <a:solidFill>
                  <a:srgbClr val="475569"/>
                </a:solidFill>
                <a:latin typeface="Open Sans"/>
              </a:rPr>
              <a:t>Interactive Streamlit dashboard for SOC analysts.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53050" y="4695825"/>
            <a:ext cx="2962275" cy="239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sz="1350" b="0" i="0" u="none">
                <a:solidFill>
                  <a:srgbClr val="334155"/>
                </a:solidFill>
                <a:latin typeface="Open Sans"/>
              </a:rPr>
              <a:t>Feature Engineering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39200" y="4695825"/>
            <a:ext cx="2962275" cy="239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sz="1350" b="0" i="0" u="none">
                <a:solidFill>
                  <a:srgbClr val="334155"/>
                </a:solidFill>
                <a:latin typeface="Open Sans"/>
              </a:rPr>
              <a:t>Label Encoding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53050" y="5050035"/>
            <a:ext cx="2962275" cy="239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sz="1350" b="0" i="0" u="none">
                <a:solidFill>
                  <a:srgbClr val="334155"/>
                </a:solidFill>
                <a:latin typeface="Open Sans"/>
              </a:rPr>
              <a:t>Standard Scaling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39200" y="5050035"/>
            <a:ext cx="2962275" cy="239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sz="1350" b="0" i="0" u="none">
                <a:solidFill>
                  <a:srgbClr val="334155"/>
                </a:solidFill>
                <a:latin typeface="Open Sans"/>
              </a:rPr>
              <a:t>Isolation Forest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53050" y="5404246"/>
            <a:ext cx="2962275" cy="239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sz="1350" b="0" i="0" u="none">
                <a:solidFill>
                  <a:srgbClr val="334155"/>
                </a:solidFill>
                <a:latin typeface="Open Sans"/>
              </a:rPr>
              <a:t>Risk Score Mapping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019675" y="6838950"/>
            <a:ext cx="704850" cy="295275"/>
          </a:xfrm>
          <a:prstGeom prst="rect">
            <a:avLst/>
          </a:prstGeom>
        </p:spPr>
      </p:pic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838825" y="6838950"/>
            <a:ext cx="962025" cy="295275"/>
          </a:xfrm>
          <a:prstGeom prst="rect">
            <a:avLst/>
          </a:prstGeom>
        </p:spPr>
      </p:pic>
      <p:pic>
        <p:nvPicPr>
          <p:cNvPr id="35" name="Picture 34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915150" y="6838950"/>
            <a:ext cx="704850" cy="295275"/>
          </a:xfrm>
          <a:prstGeom prst="rect">
            <a:avLst/>
          </a:prstGeom>
        </p:spPr>
      </p:pic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734300" y="6838950"/>
            <a:ext cx="704850" cy="295275"/>
          </a:xfrm>
          <a:prstGeom prst="rect">
            <a:avLst/>
          </a:prstGeom>
        </p:spPr>
      </p:pic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553450" y="6838950"/>
            <a:ext cx="828675" cy="295275"/>
          </a:xfrm>
          <a:prstGeom prst="rect">
            <a:avLst/>
          </a:prstGeom>
        </p:spPr>
      </p:pic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496425" y="6838950"/>
            <a:ext cx="609600" cy="295275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000625" y="1905000"/>
            <a:ext cx="152400" cy="171450"/>
          </a:xfrm>
          <a:prstGeom prst="rect">
            <a:avLst/>
          </a:prstGeom>
        </p:spPr>
      </p:pic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686800" y="1905000"/>
            <a:ext cx="171450" cy="171450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5000625" y="3076575"/>
            <a:ext cx="171450" cy="171450"/>
          </a:xfrm>
          <a:prstGeom prst="rect">
            <a:avLst/>
          </a:prstGeom>
        </p:spPr>
      </p:pic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686800" y="3076575"/>
            <a:ext cx="190500" cy="171450"/>
          </a:xfrm>
          <a:prstGeom prst="rect">
            <a:avLst/>
          </a:prstGeom>
        </p:spPr>
      </p:pic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5019675" y="4719637"/>
            <a:ext cx="171450" cy="180975"/>
          </a:xfrm>
          <a:prstGeom prst="rect">
            <a:avLst/>
          </a:prstGeom>
        </p:spPr>
      </p:pic>
      <p:pic>
        <p:nvPicPr>
          <p:cNvPr id="44" name="Picture 43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505825" y="4719637"/>
            <a:ext cx="171450" cy="180975"/>
          </a:xfrm>
          <a:prstGeom prst="rect">
            <a:avLst/>
          </a:prstGeom>
        </p:spPr>
      </p:pic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5019675" y="5073848"/>
            <a:ext cx="171450" cy="180975"/>
          </a:xfrm>
          <a:prstGeom prst="rect">
            <a:avLst/>
          </a:prstGeom>
        </p:spPr>
      </p:pic>
      <p:pic>
        <p:nvPicPr>
          <p:cNvPr id="46" name="Picture 45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505825" y="5073848"/>
            <a:ext cx="171450" cy="180975"/>
          </a:xfrm>
          <a:prstGeom prst="rect">
            <a:avLst/>
          </a:prstGeom>
        </p:spPr>
      </p:pic>
      <p:pic>
        <p:nvPicPr>
          <p:cNvPr id="47" name="Picture 46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5019675" y="5428059"/>
            <a:ext cx="171450" cy="180975"/>
          </a:xfrm>
          <a:prstGeom prst="rect">
            <a:avLst/>
          </a:prstGeom>
        </p:spPr>
      </p:pic>
      <p:pic>
        <p:nvPicPr>
          <p:cNvPr id="48" name="Picture 47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2433637" y="2524125"/>
            <a:ext cx="142875" cy="190500"/>
          </a:xfrm>
          <a:prstGeom prst="rect">
            <a:avLst/>
          </a:prstGeom>
        </p:spPr>
      </p:pic>
      <p:pic>
        <p:nvPicPr>
          <p:cNvPr id="49" name="Picture 48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2433637" y="3286125"/>
            <a:ext cx="142875" cy="190500"/>
          </a:xfrm>
          <a:prstGeom prst="rect">
            <a:avLst/>
          </a:prstGeom>
        </p:spPr>
      </p:pic>
      <p:pic>
        <p:nvPicPr>
          <p:cNvPr id="50" name="Picture 49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2433637" y="4048125"/>
            <a:ext cx="142875" cy="190500"/>
          </a:xfrm>
          <a:prstGeom prst="rect">
            <a:avLst/>
          </a:prstGeom>
        </p:spPr>
      </p:pic>
      <p:pic>
        <p:nvPicPr>
          <p:cNvPr id="51" name="Picture 50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2433637" y="4810125"/>
            <a:ext cx="142875" cy="190500"/>
          </a:xfrm>
          <a:prstGeom prst="rect">
            <a:avLst/>
          </a:prstGeom>
        </p:spPr>
      </p:pic>
      <p:pic>
        <p:nvPicPr>
          <p:cNvPr id="52" name="Picture 51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2433637" y="5572125"/>
            <a:ext cx="142875" cy="190500"/>
          </a:xfrm>
          <a:prstGeom prst="rect">
            <a:avLst/>
          </a:prstGeom>
        </p:spPr>
      </p:pic>
      <p:pic>
        <p:nvPicPr>
          <p:cNvPr id="53" name="Picture 52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2433637" y="6334125"/>
            <a:ext cx="142875" cy="190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352550"/>
            <a:ext cx="2619375" cy="1171575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1375" y="1352550"/>
            <a:ext cx="2619375" cy="117157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1250" y="1352550"/>
            <a:ext cx="2619375" cy="117157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01125" y="1352550"/>
            <a:ext cx="2619375" cy="117157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2762250"/>
            <a:ext cx="5429250" cy="2862857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91250" y="2762250"/>
            <a:ext cx="5429250" cy="2862857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91275" y="3324225"/>
            <a:ext cx="5029200" cy="1571625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1525" y="3324225"/>
            <a:ext cx="1581150" cy="847725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495550" y="3324225"/>
            <a:ext cx="1581150" cy="847725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19575" y="3324225"/>
            <a:ext cx="1581150" cy="847725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42913" y="5861148"/>
            <a:ext cx="2655093" cy="981075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40881" y="5861148"/>
            <a:ext cx="2655093" cy="981075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38850" y="5861148"/>
            <a:ext cx="2655093" cy="981075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36819" y="5861148"/>
            <a:ext cx="2655093" cy="98107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71500" y="476250"/>
            <a:ext cx="11601450" cy="495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150" b="1" i="0" u="none">
                <a:solidFill>
                  <a:srgbClr val="0F172A"/>
                </a:solidFill>
                <a:latin typeface="Segoe UI"/>
              </a:rPr>
              <a:t>Feasibility &amp; Business Impact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1500" y="1028700"/>
            <a:ext cx="11049000" cy="3810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2938" y="5610819"/>
            <a:ext cx="11601450" cy="219075"/>
          </a:xfrm>
          <a:prstGeom prst="rect">
            <a:avLst/>
          </a:prstGeom>
          <a:noFill/>
        </p:spPr>
        <p:txBody>
          <a:bodyPr wrap="square" lIns="219075" tIns="0" rIns="0" bIns="0" anchor="t">
            <a:spAutoFit/>
          </a:bodyPr>
          <a:lstStyle/>
          <a:p>
            <a:pPr algn="l"/>
            <a:r>
              <a:rPr sz="1500" b="1" i="0" u="none" dirty="0">
                <a:solidFill>
                  <a:srgbClr val="0F172A"/>
                </a:solidFill>
                <a:latin typeface="Segoe UI"/>
              </a:rPr>
              <a:t>Future Roadmap</a:t>
            </a:r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06385" y="5623023"/>
            <a:ext cx="219075" cy="1905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1525" y="1552575"/>
            <a:ext cx="2219325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25" b="0" i="0" u="none">
                <a:solidFill>
                  <a:srgbClr val="64748B"/>
                </a:solidFill>
                <a:latin typeface="Open Sans SemiBold"/>
              </a:rPr>
              <a:t>TOTAL LOGIN EVENTS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1525" y="1838325"/>
            <a:ext cx="2219325" cy="4095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50" b="1" i="0" u="none">
                <a:solidFill>
                  <a:srgbClr val="0F172A"/>
                </a:solidFill>
                <a:latin typeface="Segoe UI"/>
              </a:rPr>
              <a:t>10,000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81400" y="1552575"/>
            <a:ext cx="2219325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25" b="0" i="0" u="none">
                <a:solidFill>
                  <a:srgbClr val="64748B"/>
                </a:solidFill>
                <a:latin typeface="Open Sans SemiBold"/>
              </a:rPr>
              <a:t>NORMAL EVENTS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81400" y="1838325"/>
            <a:ext cx="2219325" cy="4095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50" b="1" i="0" u="none">
                <a:solidFill>
                  <a:srgbClr val="0F172A"/>
                </a:solidFill>
                <a:latin typeface="Segoe UI"/>
              </a:rPr>
              <a:t>9,700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91275" y="1552575"/>
            <a:ext cx="2219325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25" b="0" i="0" u="none">
                <a:solidFill>
                  <a:srgbClr val="64748B"/>
                </a:solidFill>
                <a:latin typeface="Open Sans SemiBold"/>
              </a:rPr>
              <a:t>INJECTED ATTACKS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91275" y="1838325"/>
            <a:ext cx="2219325" cy="4095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50" b="1" i="0" u="none">
                <a:solidFill>
                  <a:srgbClr val="EF4444"/>
                </a:solidFill>
                <a:latin typeface="Segoe UI"/>
              </a:rPr>
              <a:t>300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01150" y="1552575"/>
            <a:ext cx="2219325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25" b="0" i="0" u="none">
                <a:solidFill>
                  <a:srgbClr val="E0F2FE"/>
                </a:solidFill>
                <a:latin typeface="Open Sans SemiBold"/>
              </a:rPr>
              <a:t>OVERALL ACCURACY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01150" y="1838325"/>
            <a:ext cx="2219325" cy="4095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50" b="1" i="0" u="none">
                <a:solidFill>
                  <a:srgbClr val="FFFFFF"/>
                </a:solidFill>
                <a:latin typeface="Segoe UI"/>
              </a:rPr>
              <a:t>98%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1525" y="2962275"/>
            <a:ext cx="5280660" cy="219075"/>
          </a:xfrm>
          <a:prstGeom prst="rect">
            <a:avLst/>
          </a:prstGeom>
          <a:noFill/>
        </p:spPr>
        <p:txBody>
          <a:bodyPr wrap="square" lIns="219075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Segoe UI"/>
              </a:rPr>
              <a:t>Evaluation Metrics &amp; Benefits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1275" y="2962275"/>
            <a:ext cx="5280660" cy="219075"/>
          </a:xfrm>
          <a:prstGeom prst="rect">
            <a:avLst/>
          </a:prstGeom>
          <a:noFill/>
        </p:spPr>
        <p:txBody>
          <a:bodyPr wrap="square" lIns="238125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EF4444"/>
                </a:solidFill>
                <a:latin typeface="Segoe UI"/>
              </a:rPr>
              <a:t>Challenges &amp; Solutions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5313" y="6099273"/>
            <a:ext cx="2467808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0F172A"/>
                </a:solidFill>
                <a:latin typeface="Segoe UI"/>
              </a:rPr>
              <a:t>Phase 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5313" y="6289773"/>
            <a:ext cx="2350293" cy="1089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0" i="0" u="none">
                <a:solidFill>
                  <a:srgbClr val="475569"/>
                </a:solidFill>
                <a:latin typeface="Open Sans"/>
              </a:rPr>
              <a:t>Deep Learning (Autoencoders &amp; LSTM)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93281" y="6042123"/>
            <a:ext cx="2467808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0F172A"/>
                </a:solidFill>
                <a:latin typeface="Segoe UI"/>
              </a:rPr>
              <a:t>Phase 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93281" y="6289773"/>
            <a:ext cx="2350293" cy="1089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0" i="0" u="none">
                <a:solidFill>
                  <a:srgbClr val="475569"/>
                </a:solidFill>
                <a:latin typeface="Open Sans"/>
              </a:rPr>
              <a:t>Real-Time Streaming using Apache Kafka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91250" y="6042123"/>
            <a:ext cx="2467808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0F172A"/>
                </a:solidFill>
                <a:latin typeface="Segoe UI"/>
              </a:rPr>
              <a:t>Phase 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91250" y="6289773"/>
            <a:ext cx="2350293" cy="1089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0" i="0" u="none">
                <a:solidFill>
                  <a:srgbClr val="475569"/>
                </a:solidFill>
                <a:latin typeface="Open Sans"/>
              </a:rPr>
              <a:t>Docker &amp; Kubernetes Deployment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89219" y="6042123"/>
            <a:ext cx="2467808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0F172A"/>
                </a:solidFill>
                <a:latin typeface="Segoe UI"/>
              </a:rPr>
              <a:t>Phase 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89219" y="6289773"/>
            <a:ext cx="2350293" cy="1089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0" i="0" u="none">
                <a:solidFill>
                  <a:srgbClr val="475569"/>
                </a:solidFill>
                <a:latin typeface="Open Sans"/>
              </a:rPr>
              <a:t>SIEM Integration &amp; Threat Intelligence</a:t>
            </a:r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71525" y="2971800"/>
            <a:ext cx="219075" cy="19050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1104900" y="4362450"/>
            <a:ext cx="4695825" cy="239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sz="1350" b="0" i="0" u="none">
                <a:solidFill>
                  <a:srgbClr val="334155"/>
                </a:solidFill>
                <a:latin typeface="Open Sans"/>
              </a:rPr>
              <a:t>Reduced Alert Fatigue &amp; Explainable AI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4900" y="4716660"/>
            <a:ext cx="4695825" cy="239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sz="1350" b="0" i="0" u="none">
                <a:solidFill>
                  <a:srgbClr val="334155"/>
                </a:solidFill>
                <a:latin typeface="Open Sans"/>
              </a:rPr>
              <a:t>Enterprise Ready &amp; Lightweight Architecture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04900" y="5070871"/>
            <a:ext cx="4695825" cy="239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sz="1350" b="0" i="0" u="none">
                <a:solidFill>
                  <a:srgbClr val="334155"/>
                </a:solidFill>
                <a:latin typeface="Open Sans"/>
              </a:rPr>
              <a:t>Detects Unknown/Zero-Day Threats</a:t>
            </a:r>
          </a:p>
        </p:txBody>
      </p:sp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391275" y="2971800"/>
            <a:ext cx="238125" cy="19050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6543675" y="3476625"/>
            <a:ext cx="2290762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334155"/>
                </a:solidFill>
                <a:latin typeface="Open Sans"/>
              </a:rPr>
              <a:t>Challenge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77312" y="3476625"/>
            <a:ext cx="2290762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334155"/>
                </a:solidFill>
                <a:latin typeface="Open Sans"/>
              </a:rPr>
              <a:t>Solution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43675" y="3829050"/>
            <a:ext cx="2290762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Open Sans"/>
              </a:rPr>
              <a:t>Data Quality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977312" y="3829050"/>
            <a:ext cx="2290762" cy="209550"/>
          </a:xfrm>
          <a:prstGeom prst="rect">
            <a:avLst/>
          </a:prstGeom>
          <a:noFill/>
        </p:spPr>
        <p:txBody>
          <a:bodyPr wrap="square" lIns="13335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334155"/>
                </a:solidFill>
                <a:latin typeface="Open Sans"/>
              </a:rPr>
              <a:t>Behaviour Learning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43675" y="4181475"/>
            <a:ext cx="2290762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Open Sans"/>
              </a:rPr>
              <a:t>False Positives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977312" y="4181475"/>
            <a:ext cx="2290762" cy="209550"/>
          </a:xfrm>
          <a:prstGeom prst="rect">
            <a:avLst/>
          </a:prstGeom>
          <a:noFill/>
        </p:spPr>
        <p:txBody>
          <a:bodyPr wrap="square" lIns="13335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334155"/>
                </a:solidFill>
                <a:latin typeface="Open Sans"/>
              </a:rPr>
              <a:t>Explainable Risk Scoring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43675" y="4533900"/>
            <a:ext cx="2290762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Open Sans"/>
              </a:rPr>
              <a:t>Cold Start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977312" y="4533900"/>
            <a:ext cx="2290762" cy="209550"/>
          </a:xfrm>
          <a:prstGeom prst="rect">
            <a:avLst/>
          </a:prstGeom>
          <a:noFill/>
        </p:spPr>
        <p:txBody>
          <a:bodyPr wrap="square" lIns="13335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334155"/>
                </a:solidFill>
                <a:latin typeface="Open Sans"/>
              </a:rPr>
              <a:t>Continuous Retraining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14437" y="3476625"/>
            <a:ext cx="695325" cy="1809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64748B"/>
                </a:solidFill>
                <a:latin typeface="Open Sans SemiBold"/>
              </a:rPr>
              <a:t>PRECISION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295400" y="3657600"/>
            <a:ext cx="533400" cy="361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 u="none">
                <a:solidFill>
                  <a:srgbClr val="0284C7"/>
                </a:solidFill>
                <a:latin typeface="Open Sans"/>
              </a:rPr>
              <a:t>0.67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043237" y="3476625"/>
            <a:ext cx="485775" cy="1809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64748B"/>
                </a:solidFill>
                <a:latin typeface="Open Sans SemiBold"/>
              </a:rPr>
              <a:t>RECALL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019425" y="3657600"/>
            <a:ext cx="533400" cy="361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 u="none">
                <a:solidFill>
                  <a:srgbClr val="0284C7"/>
                </a:solidFill>
                <a:latin typeface="Open Sans"/>
              </a:rPr>
              <a:t>0.67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705350" y="3476625"/>
            <a:ext cx="609600" cy="1809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64748B"/>
                </a:solidFill>
                <a:latin typeface="Open Sans SemiBold"/>
              </a:rPr>
              <a:t>F1 SCORE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743450" y="3657600"/>
            <a:ext cx="533400" cy="361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 u="none">
                <a:solidFill>
                  <a:srgbClr val="0284C7"/>
                </a:solidFill>
                <a:latin typeface="Open Sans"/>
              </a:rPr>
              <a:t>0.67</a:t>
            </a:r>
          </a:p>
        </p:txBody>
      </p:sp>
      <p:pic>
        <p:nvPicPr>
          <p:cNvPr id="57" name="Picture 56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977312" y="3857625"/>
            <a:ext cx="133350" cy="152400"/>
          </a:xfrm>
          <a:prstGeom prst="rect">
            <a:avLst/>
          </a:prstGeom>
        </p:spPr>
      </p:pic>
      <p:pic>
        <p:nvPicPr>
          <p:cNvPr id="58" name="Picture 57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977312" y="4210050"/>
            <a:ext cx="133350" cy="152400"/>
          </a:xfrm>
          <a:prstGeom prst="rect">
            <a:avLst/>
          </a:prstGeom>
        </p:spPr>
      </p:pic>
      <p:pic>
        <p:nvPicPr>
          <p:cNvPr id="59" name="Picture 58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977312" y="4562475"/>
            <a:ext cx="133350" cy="152400"/>
          </a:xfrm>
          <a:prstGeom prst="rect">
            <a:avLst/>
          </a:prstGeom>
        </p:spPr>
      </p:pic>
      <p:pic>
        <p:nvPicPr>
          <p:cNvPr id="60" name="Picture 59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71525" y="4386262"/>
            <a:ext cx="152400" cy="180975"/>
          </a:xfrm>
          <a:prstGeom prst="rect">
            <a:avLst/>
          </a:prstGeom>
        </p:spPr>
      </p:pic>
      <p:pic>
        <p:nvPicPr>
          <p:cNvPr id="61" name="Picture 60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71525" y="4740473"/>
            <a:ext cx="152400" cy="180975"/>
          </a:xfrm>
          <a:prstGeom prst="rect">
            <a:avLst/>
          </a:prstGeom>
        </p:spPr>
      </p:pic>
      <p:pic>
        <p:nvPicPr>
          <p:cNvPr id="62" name="Picture 61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71525" y="5094684"/>
            <a:ext cx="152400" cy="180975"/>
          </a:xfrm>
          <a:prstGeom prst="rect">
            <a:avLst/>
          </a:prstGeom>
        </p:spPr>
      </p:pic>
      <p:sp>
        <p:nvSpPr>
          <p:cNvPr id="63" name="Rectangle 62"/>
          <p:cNvSpPr/>
          <p:nvPr/>
        </p:nvSpPr>
        <p:spPr>
          <a:xfrm>
            <a:off x="442913" y="6004023"/>
            <a:ext cx="11049000" cy="381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587" y="5810250"/>
            <a:ext cx="11049000" cy="104775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924050"/>
            <a:ext cx="3492400" cy="17145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9650" y="1924050"/>
            <a:ext cx="3492549" cy="17145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7950" y="1924050"/>
            <a:ext cx="3492400" cy="17145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3924300"/>
            <a:ext cx="3492400" cy="17145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49650" y="3924300"/>
            <a:ext cx="3492549" cy="17145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27950" y="3924300"/>
            <a:ext cx="3492400" cy="17145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71500" y="476250"/>
            <a:ext cx="11601450" cy="495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150" b="1" i="0" u="none">
                <a:solidFill>
                  <a:srgbClr val="0F172A"/>
                </a:solidFill>
                <a:latin typeface="Segoe UI"/>
              </a:rPr>
              <a:t>Artifacts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1500" y="1028700"/>
            <a:ext cx="11049000" cy="3810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71500" y="1352550"/>
            <a:ext cx="1104900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250"/>
              </a:lnSpc>
            </a:pPr>
            <a:r>
              <a:rPr sz="1500" b="0" i="0" u="none">
                <a:solidFill>
                  <a:srgbClr val="334155"/>
                </a:solidFill>
                <a:latin typeface="Open Sans"/>
              </a:rPr>
              <a:t>Key architectural components and visual interfaces of the SentinelAI implementation.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625" y="6176962"/>
            <a:ext cx="3857625" cy="542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38BDF8"/>
                </a:solidFill>
                <a:latin typeface="Open Sans"/>
              </a:rPr>
              <a:t>https://github.com/RajGaurav2691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829925" y="6162675"/>
            <a:ext cx="552450" cy="571500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031950" y="2145506"/>
            <a:ext cx="571500" cy="4572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367581" y="2745581"/>
            <a:ext cx="1900237" cy="219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 i="0" u="none">
                <a:solidFill>
                  <a:srgbClr val="334155"/>
                </a:solidFill>
                <a:latin typeface="Segoe UI"/>
              </a:rPr>
              <a:t>End-to-End Pipeline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74750" y="3059906"/>
            <a:ext cx="1485900" cy="214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687"/>
              </a:lnSpc>
            </a:pPr>
            <a:r>
              <a:rPr sz="1125" b="0" i="0" u="none">
                <a:solidFill>
                  <a:srgbClr val="64748B"/>
                </a:solidFill>
                <a:latin typeface="Open Sans"/>
              </a:rPr>
              <a:t>Data flow visualization</a:t>
            </a:r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838676" y="2145506"/>
            <a:ext cx="514350" cy="4572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126823" y="2745581"/>
            <a:ext cx="1938054" cy="219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 i="0" u="none">
                <a:solidFill>
                  <a:srgbClr val="334155"/>
                </a:solidFill>
                <a:latin typeface="Segoe UI"/>
              </a:rPr>
              <a:t>System Architecture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76726" y="3059906"/>
            <a:ext cx="1238250" cy="214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687"/>
              </a:lnSpc>
            </a:pPr>
            <a:r>
              <a:rPr sz="1125" b="0" i="0" u="none">
                <a:solidFill>
                  <a:srgbClr val="64748B"/>
                </a:solidFill>
                <a:latin typeface="Open Sans"/>
              </a:rPr>
              <a:t>Module interaction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616975" y="2145506"/>
            <a:ext cx="514350" cy="4572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895907" y="2745581"/>
            <a:ext cx="1956338" cy="219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 i="0" u="none">
                <a:solidFill>
                  <a:srgbClr val="334155"/>
                </a:solidFill>
                <a:latin typeface="Segoe UI"/>
              </a:rPr>
              <a:t>Streamlit Dashboard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50263" y="3059906"/>
            <a:ext cx="1247775" cy="214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687"/>
              </a:lnSpc>
            </a:pPr>
            <a:r>
              <a:rPr sz="1125" b="0" i="0" u="none">
                <a:solidFill>
                  <a:srgbClr val="64748B"/>
                </a:solidFill>
                <a:latin typeface="Open Sans"/>
              </a:rPr>
              <a:t>Main SOC interface</a:t>
            </a:r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089100" y="4145756"/>
            <a:ext cx="457200" cy="4572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543228" y="4745831"/>
            <a:ext cx="1548943" cy="219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 i="0" u="none">
                <a:solidFill>
                  <a:srgbClr val="334155"/>
                </a:solidFill>
                <a:latin typeface="Segoe UI"/>
              </a:rPr>
              <a:t>Threat Analytics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79525" y="5060156"/>
            <a:ext cx="1276350" cy="214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687"/>
              </a:lnSpc>
            </a:pPr>
            <a:r>
              <a:rPr sz="1125" b="0" i="0" u="none">
                <a:solidFill>
                  <a:srgbClr val="64748B"/>
                </a:solidFill>
                <a:latin typeface="Open Sans"/>
              </a:rPr>
              <a:t>Trend identification</a:t>
            </a:r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867251" y="4145756"/>
            <a:ext cx="457200" cy="4572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451079" y="4745831"/>
            <a:ext cx="1289692" cy="219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 i="0" u="none">
                <a:solidFill>
                  <a:srgbClr val="334155"/>
                </a:solidFill>
                <a:latin typeface="Segoe UI"/>
              </a:rPr>
              <a:t>Risk Explorer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10051" y="5060156"/>
            <a:ext cx="1371600" cy="214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687"/>
              </a:lnSpc>
            </a:pPr>
            <a:r>
              <a:rPr sz="1125" b="0" i="0" u="none">
                <a:solidFill>
                  <a:srgbClr val="64748B"/>
                </a:solidFill>
                <a:latin typeface="Open Sans"/>
              </a:rPr>
              <a:t>Deep dive anomalies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674125" y="4145756"/>
            <a:ext cx="400050" cy="4572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257202" y="4745831"/>
            <a:ext cx="1233747" cy="219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 i="0" u="none">
                <a:solidFill>
                  <a:srgbClr val="334155"/>
                </a:solidFill>
                <a:latin typeface="Segoe UI"/>
              </a:rPr>
              <a:t>Source Code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69313" y="5060156"/>
            <a:ext cx="1209675" cy="214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687"/>
              </a:lnSpc>
            </a:pPr>
            <a:r>
              <a:rPr sz="1125" b="0" i="0" u="none">
                <a:solidFill>
                  <a:srgbClr val="64748B"/>
                </a:solidFill>
                <a:latin typeface="Open Sans"/>
              </a:rPr>
              <a:t>GitHub Repository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2475" y="6443662"/>
            <a:ext cx="4050506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u="none" dirty="0">
                <a:solidFill>
                  <a:srgbClr val="FFFFFF"/>
                </a:solidFill>
                <a:latin typeface="Segoe UI"/>
              </a:rPr>
              <a:t>Project Repository Available Online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352550"/>
            <a:ext cx="11049000" cy="353377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1500" y="476250"/>
            <a:ext cx="11601450" cy="495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150" b="1" i="0" u="none">
                <a:solidFill>
                  <a:srgbClr val="0F172A"/>
                </a:solidFill>
                <a:latin typeface="Segoe UI"/>
              </a:rPr>
              <a:t>Research &amp; References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71500" y="1028700"/>
            <a:ext cx="11049000" cy="3810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95275" y="5457825"/>
            <a:ext cx="11601450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700" b="1" i="0" u="none">
                <a:solidFill>
                  <a:srgbClr val="0F172A"/>
                </a:solidFill>
                <a:latin typeface="Segoe UI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5953125"/>
            <a:ext cx="11049000" cy="285750"/>
          </a:xfrm>
          <a:prstGeom prst="rect">
            <a:avLst/>
          </a:prstGeom>
          <a:noFill/>
        </p:spPr>
        <p:txBody>
          <a:bodyPr wrap="square" lIns="180975" tIns="0" rIns="0" bIns="0" anchor="t">
            <a:spAutoFit/>
          </a:bodyPr>
          <a:lstStyle/>
          <a:p>
            <a:pPr algn="ctr">
              <a:lnSpc>
                <a:spcPts val="2250"/>
              </a:lnSpc>
            </a:pPr>
            <a:r>
              <a:rPr sz="1500" b="0" i="0" u="none">
                <a:solidFill>
                  <a:srgbClr val="475569"/>
                </a:solidFill>
                <a:latin typeface="Open Sans"/>
              </a:rPr>
              <a:t> Project Repo: </a:t>
            </a:r>
            <a:r>
              <a:rPr sz="1500" b="1" i="0" u="none">
                <a:solidFill>
                  <a:srgbClr val="475569"/>
                </a:solidFill>
                <a:latin typeface="Open Sans"/>
              </a:rPr>
              <a:t>https://github.com/RajGaurav2691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3325" y="6000750"/>
            <a:ext cx="180975" cy="1905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62025" y="1743075"/>
            <a:ext cx="5190648" cy="247650"/>
          </a:xfrm>
          <a:prstGeom prst="rect">
            <a:avLst/>
          </a:prstGeom>
          <a:noFill/>
        </p:spPr>
        <p:txBody>
          <a:bodyPr wrap="square" lIns="238125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0F172A"/>
                </a:solidFill>
                <a:latin typeface="Segoe UI"/>
              </a:rPr>
              <a:t>Core Technologies &amp; Papers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86500" y="1743075"/>
            <a:ext cx="5190648" cy="247650"/>
          </a:xfrm>
          <a:prstGeom prst="rect">
            <a:avLst/>
          </a:prstGeom>
          <a:noFill/>
        </p:spPr>
        <p:txBody>
          <a:bodyPr wrap="square" lIns="20955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0F172A"/>
                </a:solidFill>
                <a:latin typeface="Segoe UI"/>
              </a:rPr>
              <a:t>Security Frameworks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025" y="1752600"/>
            <a:ext cx="238125" cy="20955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295400" y="2181225"/>
            <a:ext cx="4610100" cy="239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sz="1350" b="0" i="0" u="none">
                <a:solidFill>
                  <a:srgbClr val="334155"/>
                </a:solidFill>
                <a:latin typeface="Open Sans"/>
              </a:rPr>
              <a:t>Isolation Forest Research Paper (Liu et al.)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5400" y="2535435"/>
            <a:ext cx="4610100" cy="239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sz="1350" b="0" i="0" u="none">
                <a:solidFill>
                  <a:srgbClr val="334155"/>
                </a:solidFill>
                <a:latin typeface="Open Sans"/>
              </a:rPr>
              <a:t>Scikit-learn Documentation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5400" y="2889646"/>
            <a:ext cx="4610100" cy="239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sz="1350" b="0" i="0" u="none">
                <a:solidFill>
                  <a:srgbClr val="334155"/>
                </a:solidFill>
                <a:latin typeface="Open Sans"/>
              </a:rPr>
              <a:t>Streamlit Documentation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5400" y="3243857"/>
            <a:ext cx="4610100" cy="239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sz="1350" b="0" i="0" u="none">
                <a:solidFill>
                  <a:srgbClr val="334155"/>
                </a:solidFill>
                <a:latin typeface="Open Sans"/>
              </a:rPr>
              <a:t>Pandas &amp; NumPy Documentation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6500" y="1752600"/>
            <a:ext cx="209550" cy="20955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619875" y="2181225"/>
            <a:ext cx="4610100" cy="239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sz="1350" b="0" i="0" u="none">
                <a:solidFill>
                  <a:srgbClr val="334155"/>
                </a:solidFill>
                <a:latin typeface="Open Sans"/>
              </a:rPr>
              <a:t>MITRE ATT&amp;CK Framework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19875" y="2535435"/>
            <a:ext cx="4610100" cy="239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sz="1350" b="0" i="0" u="none">
                <a:solidFill>
                  <a:srgbClr val="334155"/>
                </a:solidFill>
                <a:latin typeface="Open Sans"/>
              </a:rPr>
              <a:t>OWASP Identity Security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19875" y="2889646"/>
            <a:ext cx="4610100" cy="239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sz="1350" b="0" i="0" u="none">
                <a:solidFill>
                  <a:srgbClr val="334155"/>
                </a:solidFill>
                <a:latin typeface="Open Sans"/>
              </a:rPr>
              <a:t>Honeywell Cybersecurity Resources</a:t>
            </a:r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2025" y="2205037"/>
            <a:ext cx="171450" cy="180975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2025" y="2559248"/>
            <a:ext cx="219075" cy="180975"/>
          </a:xfrm>
          <a:prstGeom prst="rect">
            <a:avLst/>
          </a:prstGeom>
        </p:spPr>
      </p:pic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2025" y="2913459"/>
            <a:ext cx="219075" cy="180975"/>
          </a:xfrm>
          <a:prstGeom prst="rect">
            <a:avLst/>
          </a:prstGeom>
        </p:spPr>
      </p:pic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2025" y="3267670"/>
            <a:ext cx="219075" cy="180975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86500" y="2205037"/>
            <a:ext cx="219075" cy="180975"/>
          </a:xfrm>
          <a:prstGeom prst="rect">
            <a:avLst/>
          </a:prstGeom>
        </p:spPr>
      </p:pic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86500" y="2559248"/>
            <a:ext cx="219075" cy="180975"/>
          </a:xfrm>
          <a:prstGeom prst="rect">
            <a:avLst/>
          </a:prstGeom>
        </p:spPr>
      </p:pic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86500" y="2913459"/>
            <a:ext cx="219075" cy="18097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416</Words>
  <Application>Microsoft Office PowerPoint</Application>
  <PresentationFormat>Widescreen</PresentationFormat>
  <Paragraphs>109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Arial</vt:lpstr>
      <vt:lpstr>Calibri</vt:lpstr>
      <vt:lpstr>Open Sans</vt:lpstr>
      <vt:lpstr>Open Sans SemiBold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Raj Gaurav</cp:lastModifiedBy>
  <cp:revision>2</cp:revision>
  <dcterms:created xsi:type="dcterms:W3CDTF">2013-01-27T09:14:16Z</dcterms:created>
  <dcterms:modified xsi:type="dcterms:W3CDTF">2026-07-26T15:20:31Z</dcterms:modified>
  <cp:category/>
</cp:coreProperties>
</file>